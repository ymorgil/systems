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Lst>
  <p:notesMasterIdLst>
    <p:notesMasterId r:id="rId7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notesMaster" Target="notesMasters/notesMaster1.xml"/><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035040" y="-1280160"/>
            <a:ext cx="4572000" cy="4572000"/>
          </a:xfrm>
          <a:prstGeom prst="ellipse">
            <a:avLst/>
          </a:prstGeom>
          <a:solidFill>
            <a:srgbClr val="CADCFC">
              <a:alpha val="12000"/>
            </a:srgbClr>
          </a:solidFill>
          <a:ln/>
        </p:spPr>
      </p:sp>
      <p:sp>
        <p:nvSpPr>
          <p:cNvPr id="3" name="Shape 1"/>
          <p:cNvSpPr/>
          <p:nvPr/>
        </p:nvSpPr>
        <p:spPr>
          <a:xfrm>
            <a:off x="-1463040" y="3291840"/>
            <a:ext cx="3291840" cy="3291840"/>
          </a:xfrm>
          <a:prstGeom prst="ellipse">
            <a:avLst/>
          </a:prstGeom>
          <a:solidFill>
            <a:srgbClr val="CADCFC">
              <a:alpha val="10000"/>
            </a:srgbClr>
          </a:solidFill>
          <a:ln/>
        </p:spPr>
      </p:sp>
      <p:sp>
        <p:nvSpPr>
          <p:cNvPr id="4" name="Text 2"/>
          <p:cNvSpPr/>
          <p:nvPr/>
        </p:nvSpPr>
        <p:spPr>
          <a:xfrm>
            <a:off x="731520" y="640080"/>
            <a:ext cx="7680960" cy="365760"/>
          </a:xfrm>
          <a:prstGeom prst="rect">
            <a:avLst/>
          </a:prstGeom>
          <a:noFill/>
          <a:ln/>
        </p:spPr>
        <p:txBody>
          <a:bodyPr wrap="square"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DJK · DIGITALIZACIÓN APLICADA A LOS SECTORES PRODUCTIVOS</a:t>
            </a:r>
            <a:endParaRPr lang="en-US" sz="1300" dirty="0"/>
          </a:p>
        </p:txBody>
      </p:sp>
      <p:sp>
        <p:nvSpPr>
          <p:cNvPr id="5" name="Shape 3"/>
          <p:cNvSpPr/>
          <p:nvPr/>
        </p:nvSpPr>
        <p:spPr>
          <a:xfrm>
            <a:off x="731520" y="1234440"/>
            <a:ext cx="2194560" cy="457200"/>
          </a:xfrm>
          <a:prstGeom prst="roundRect">
            <a:avLst>
              <a:gd name="adj" fmla="val 16000"/>
            </a:avLst>
          </a:prstGeom>
          <a:solidFill>
            <a:srgbClr val="CADCFC">
              <a:alpha val="85000"/>
            </a:srgbClr>
          </a:solidFill>
          <a:ln/>
        </p:spPr>
      </p:sp>
      <p:sp>
        <p:nvSpPr>
          <p:cNvPr id="6" name="Text 4"/>
          <p:cNvSpPr/>
          <p:nvPr/>
        </p:nvSpPr>
        <p:spPr>
          <a:xfrm>
            <a:off x="731520" y="1234440"/>
            <a:ext cx="2194560" cy="45720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UT05</a:t>
            </a:r>
            <a:endParaRPr lang="en-US" sz="1600" dirty="0"/>
          </a:p>
        </p:txBody>
      </p:sp>
      <p:sp>
        <p:nvSpPr>
          <p:cNvPr id="7" name="Text 5"/>
          <p:cNvSpPr/>
          <p:nvPr/>
        </p:nvSpPr>
        <p:spPr>
          <a:xfrm>
            <a:off x="731520" y="1874520"/>
            <a:ext cx="7498080" cy="1737360"/>
          </a:xfrm>
          <a:prstGeom prst="rect">
            <a:avLst/>
          </a:prstGeom>
          <a:noFill/>
          <a:ln/>
        </p:spPr>
        <p:txBody>
          <a:bodyPr wrap="square"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Datos, seguridad e identidad digital</a:t>
            </a:r>
            <a:endParaRPr lang="en-US" sz="3800" dirty="0"/>
          </a:p>
        </p:txBody>
      </p:sp>
      <p:sp>
        <p:nvSpPr>
          <p:cNvPr id="8" name="Text 6"/>
          <p:cNvSpPr/>
          <p:nvPr/>
        </p:nvSpPr>
        <p:spPr>
          <a:xfrm>
            <a:off x="731520" y="4091940"/>
            <a:ext cx="7498080" cy="64008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Digitalización aplicada a los sectores productivos (DJK) · Módulo 1665 · CFGS ASIR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ÍNDICE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600" b="1" dirty="0">
                <a:solidFill>
                  <a:srgbClr val="1E2761"/>
                </a:solidFill>
                <a:latin typeface="Calibri" pitchFamily="34" charset="0"/>
                <a:ea typeface="Calibri" pitchFamily="34" charset="-122"/>
                <a:cs typeface="Calibri" pitchFamily="34" charset="-120"/>
              </a:rPr>
              <a:t>Índice de contenidos</a:t>
            </a:r>
            <a:endParaRPr lang="en-US" sz="2600" dirty="0"/>
          </a:p>
        </p:txBody>
      </p:sp>
      <p:sp>
        <p:nvSpPr>
          <p:cNvPr id="5" name="Text 3"/>
          <p:cNvSpPr/>
          <p:nvPr/>
        </p:nvSpPr>
        <p:spPr>
          <a:xfrm>
            <a:off x="548640" y="1417320"/>
            <a:ext cx="2651760" cy="3429000"/>
          </a:xfrm>
          <a:prstGeom prst="rect">
            <a:avLst/>
          </a:prstGeom>
          <a:noFill/>
          <a:ln/>
        </p:spPr>
        <p:txBody>
          <a:bodyPr wrap="square" rtlCol="0" anchor="t"/>
          <a:lstStyle/>
          <a:p>
            <a:pPr indent="0" marL="0">
              <a:spcAft>
                <a:spcPts val="900"/>
              </a:spcAft>
              <a:buNone/>
            </a:pPr>
            <a:r>
              <a:rPr lang="en-US" sz="1300" b="1" dirty="0">
                <a:solidFill>
                  <a:srgbClr val="1E2761"/>
                </a:solidFill>
              </a:rPr>
              <a:t>1.  </a:t>
            </a:r>
            <a:pPr indent="0" marL="0">
              <a:spcAft>
                <a:spcPts val="900"/>
              </a:spcAft>
              <a:buNone/>
            </a:pPr>
            <a:r>
              <a:rPr lang="en-US" sz="1300" dirty="0">
                <a:solidFill>
                  <a:srgbClr val="2A2E3A"/>
                </a:solidFill>
              </a:rPr>
              <a:t>Resultado de aprendizaje y criterios de evaluación</a:t>
            </a:r>
            <a:endParaRPr lang="en-US" sz="1300" dirty="0"/>
          </a:p>
          <a:p>
            <a:pPr indent="0" marL="0">
              <a:spcAft>
                <a:spcPts val="900"/>
              </a:spcAft>
              <a:buNone/>
            </a:pPr>
            <a:r>
              <a:rPr lang="en-US" sz="1300" b="1" dirty="0">
                <a:solidFill>
                  <a:srgbClr val="1E2761"/>
                </a:solidFill>
              </a:rPr>
              <a:t>2.  </a:t>
            </a:r>
            <a:pPr indent="0" marL="0">
              <a:spcAft>
                <a:spcPts val="900"/>
              </a:spcAft>
              <a:buNone/>
            </a:pPr>
            <a:r>
              <a:rPr lang="en-US" sz="1300" dirty="0">
                <a:solidFill>
                  <a:srgbClr val="2A2E3A"/>
                </a:solidFill>
              </a:rPr>
              <a:t>Dato e información: la materia prima de la economía digital</a:t>
            </a:r>
            <a:endParaRPr lang="en-US" sz="1300" dirty="0"/>
          </a:p>
          <a:p>
            <a:pPr indent="0" marL="0">
              <a:spcAft>
                <a:spcPts val="900"/>
              </a:spcAft>
              <a:buNone/>
            </a:pPr>
            <a:r>
              <a:rPr lang="en-US" sz="1300" b="1" dirty="0">
                <a:solidFill>
                  <a:srgbClr val="1E2761"/>
                </a:solidFill>
              </a:rPr>
              <a:t>3.  </a:t>
            </a:r>
            <a:pPr indent="0" marL="0">
              <a:spcAft>
                <a:spcPts val="900"/>
              </a:spcAft>
              <a:buNone/>
            </a:pPr>
            <a:r>
              <a:rPr lang="en-US" sz="1300" dirty="0">
                <a:solidFill>
                  <a:srgbClr val="2A2E3A"/>
                </a:solidFill>
              </a:rPr>
              <a:t>El ciclo de vida del dato</a:t>
            </a:r>
            <a:endParaRPr lang="en-US" sz="1300" dirty="0"/>
          </a:p>
          <a:p>
            <a:pPr indent="0" marL="0">
              <a:spcAft>
                <a:spcPts val="900"/>
              </a:spcAft>
              <a:buNone/>
            </a:pPr>
            <a:r>
              <a:rPr lang="en-US" sz="1300" b="1" dirty="0">
                <a:solidFill>
                  <a:srgbClr val="1E2761"/>
                </a:solidFill>
              </a:rPr>
              <a:t>4.  </a:t>
            </a:r>
            <a:pPr indent="0" marL="0">
              <a:spcAft>
                <a:spcPts val="900"/>
              </a:spcAft>
              <a:buNone/>
            </a:pPr>
            <a:r>
              <a:rPr lang="en-US" sz="1300" dirty="0">
                <a:solidFill>
                  <a:srgbClr val="2A2E3A"/>
                </a:solidFill>
              </a:rPr>
              <a:t>Big Data: características, ciencia de datos y relación con la IA</a:t>
            </a:r>
            <a:endParaRPr lang="en-US" sz="1300" dirty="0"/>
          </a:p>
        </p:txBody>
      </p:sp>
      <p:sp>
        <p:nvSpPr>
          <p:cNvPr id="6" name="Text 4"/>
          <p:cNvSpPr/>
          <p:nvPr/>
        </p:nvSpPr>
        <p:spPr>
          <a:xfrm>
            <a:off x="3337560" y="1417320"/>
            <a:ext cx="2651760" cy="3429000"/>
          </a:xfrm>
          <a:prstGeom prst="rect">
            <a:avLst/>
          </a:prstGeom>
          <a:noFill/>
          <a:ln/>
        </p:spPr>
        <p:txBody>
          <a:bodyPr wrap="square" rtlCol="0" anchor="t"/>
          <a:lstStyle/>
          <a:p>
            <a:pPr indent="0" marL="0">
              <a:spcAft>
                <a:spcPts val="900"/>
              </a:spcAft>
              <a:buNone/>
            </a:pPr>
            <a:r>
              <a:rPr lang="en-US" sz="1300" b="1" dirty="0">
                <a:solidFill>
                  <a:srgbClr val="1E2761"/>
                </a:solidFill>
              </a:rPr>
              <a:t>5.  </a:t>
            </a:r>
            <a:pPr indent="0" marL="0">
              <a:spcAft>
                <a:spcPts val="900"/>
              </a:spcAft>
              <a:buNone/>
            </a:pPr>
            <a:r>
              <a:rPr lang="en-US" sz="1300" dirty="0">
                <a:solidFill>
                  <a:srgbClr val="2A2E3A"/>
                </a:solidFill>
              </a:rPr>
              <a:t>La seguridad de los datos y la identidad digital: por qué importa</a:t>
            </a:r>
            <a:endParaRPr lang="en-US" sz="1300" dirty="0"/>
          </a:p>
          <a:p>
            <a:pPr indent="0" marL="0">
              <a:spcAft>
                <a:spcPts val="900"/>
              </a:spcAft>
              <a:buNone/>
            </a:pPr>
            <a:r>
              <a:rPr lang="en-US" sz="1300" b="1" dirty="0">
                <a:solidFill>
                  <a:srgbClr val="1E2761"/>
                </a:solidFill>
              </a:rPr>
              <a:t>6.  </a:t>
            </a:r>
            <a:pPr indent="0" marL="0">
              <a:spcAft>
                <a:spcPts val="900"/>
              </a:spcAft>
              <a:buNone/>
            </a:pPr>
            <a:r>
              <a:rPr lang="en-US" sz="1300" dirty="0">
                <a:solidFill>
                  <a:srgbClr val="2A2E3A"/>
                </a:solidFill>
              </a:rPr>
              <a:t>El DNI electrónico (DNIe): la identidad física convertida en identidad digital</a:t>
            </a:r>
            <a:endParaRPr lang="en-US" sz="1300" dirty="0"/>
          </a:p>
          <a:p>
            <a:pPr indent="0" marL="0">
              <a:spcAft>
                <a:spcPts val="900"/>
              </a:spcAft>
              <a:buNone/>
            </a:pPr>
            <a:r>
              <a:rPr lang="en-US" sz="1300" b="1" dirty="0">
                <a:solidFill>
                  <a:srgbClr val="1E2761"/>
                </a:solidFill>
              </a:rPr>
              <a:t>7.  </a:t>
            </a:r>
            <a:pPr indent="0" marL="0">
              <a:spcAft>
                <a:spcPts val="900"/>
              </a:spcAft>
              <a:buNone/>
            </a:pPr>
            <a:r>
              <a:rPr lang="en-US" sz="1300" dirty="0">
                <a:solidFill>
                  <a:srgbClr val="2A2E3A"/>
                </a:solidFill>
              </a:rPr>
              <a:t>Certificados digitales y la FNMT como Autoridad de Certificación</a:t>
            </a:r>
            <a:endParaRPr lang="en-US" sz="1300" dirty="0"/>
          </a:p>
          <a:p>
            <a:pPr indent="0" marL="0">
              <a:spcAft>
                <a:spcPts val="900"/>
              </a:spcAft>
              <a:buNone/>
            </a:pPr>
            <a:r>
              <a:rPr lang="en-US" sz="1300" b="1" dirty="0">
                <a:solidFill>
                  <a:srgbClr val="1E2761"/>
                </a:solidFill>
              </a:rPr>
              <a:t>8.  </a:t>
            </a:r>
            <a:pPr indent="0" marL="0">
              <a:spcAft>
                <a:spcPts val="900"/>
              </a:spcAft>
              <a:buNone/>
            </a:pPr>
            <a:r>
              <a:rPr lang="en-US" sz="1300" dirty="0">
                <a:solidFill>
                  <a:srgbClr val="2A2E3A"/>
                </a:solidFill>
              </a:rPr>
              <a:t>El sistema Cl@ve: identificación digital unificada del Gobierno de España</a:t>
            </a:r>
            <a:endParaRPr lang="en-US" sz="1300" dirty="0"/>
          </a:p>
        </p:txBody>
      </p:sp>
      <p:sp>
        <p:nvSpPr>
          <p:cNvPr id="7" name="Text 5"/>
          <p:cNvSpPr/>
          <p:nvPr/>
        </p:nvSpPr>
        <p:spPr>
          <a:xfrm>
            <a:off x="6126480" y="1417320"/>
            <a:ext cx="2651760" cy="3429000"/>
          </a:xfrm>
          <a:prstGeom prst="rect">
            <a:avLst/>
          </a:prstGeom>
          <a:noFill/>
          <a:ln/>
        </p:spPr>
        <p:txBody>
          <a:bodyPr wrap="square" rtlCol="0" anchor="t"/>
          <a:lstStyle/>
          <a:p>
            <a:pPr indent="0" marL="0">
              <a:spcAft>
                <a:spcPts val="900"/>
              </a:spcAft>
              <a:buNone/>
            </a:pPr>
            <a:r>
              <a:rPr lang="en-US" sz="1300" b="1" dirty="0">
                <a:solidFill>
                  <a:srgbClr val="1E2761"/>
                </a:solidFill>
              </a:rPr>
              <a:t>9.  </a:t>
            </a:r>
            <a:pPr indent="0" marL="0">
              <a:spcAft>
                <a:spcPts val="900"/>
              </a:spcAft>
              <a:buNone/>
            </a:pPr>
            <a:r>
              <a:rPr lang="en-US" sz="1300" dirty="0">
                <a:solidFill>
                  <a:srgbClr val="2A2E3A"/>
                </a:solidFill>
              </a:rPr>
              <a:t>Instalación y uso de certificados digitales en el navegador</a:t>
            </a:r>
            <a:endParaRPr lang="en-US" sz="1300" dirty="0"/>
          </a:p>
          <a:p>
            <a:pPr indent="0" marL="0">
              <a:spcAft>
                <a:spcPts val="900"/>
              </a:spcAft>
              <a:buNone/>
            </a:pPr>
            <a:r>
              <a:rPr lang="en-US" sz="1300" b="1" dirty="0">
                <a:solidFill>
                  <a:srgbClr val="1E2761"/>
                </a:solidFill>
              </a:rPr>
              <a:t>10.  </a:t>
            </a:r>
            <a:pPr indent="0" marL="0">
              <a:spcAft>
                <a:spcPts val="900"/>
              </a:spcAft>
              <a:buNone/>
            </a:pPr>
            <a:r>
              <a:rPr lang="en-US" sz="1300" dirty="0">
                <a:solidFill>
                  <a:srgbClr val="2A2E3A"/>
                </a:solidFill>
              </a:rPr>
              <a:t>Firma digital de documentos PDF con Autofirma</a:t>
            </a:r>
            <a:endParaRPr lang="en-US" sz="1300" dirty="0"/>
          </a:p>
          <a:p>
            <a:pPr indent="0" marL="0">
              <a:spcAft>
                <a:spcPts val="900"/>
              </a:spcAft>
              <a:buNone/>
            </a:pPr>
            <a:r>
              <a:rPr lang="en-US" sz="1300" b="1" dirty="0">
                <a:solidFill>
                  <a:srgbClr val="1E2761"/>
                </a:solidFill>
              </a:rPr>
              <a:t>11.  </a:t>
            </a:r>
            <a:pPr indent="0" marL="0">
              <a:spcAft>
                <a:spcPts val="900"/>
              </a:spcAft>
              <a:buNone/>
            </a:pPr>
            <a:r>
              <a:rPr lang="en-US" sz="1300" dirty="0">
                <a:solidFill>
                  <a:srgbClr val="2A2E3A"/>
                </a:solidFill>
              </a:rPr>
              <a:t>Actividades</a:t>
            </a:r>
            <a:endParaRPr lang="en-US" sz="1300" dirty="0"/>
          </a:p>
          <a:p>
            <a:pPr indent="0" marL="0">
              <a:spcAft>
                <a:spcPts val="900"/>
              </a:spcAft>
              <a:buNone/>
            </a:pPr>
            <a:r>
              <a:rPr lang="en-US" sz="1300" b="1" dirty="0">
                <a:solidFill>
                  <a:srgbClr val="1E2761"/>
                </a:solidFill>
              </a:rPr>
              <a:t>12.  </a:t>
            </a:r>
            <a:pPr indent="0" marL="0">
              <a:spcAft>
                <a:spcPts val="900"/>
              </a:spcAft>
              <a:buNone/>
            </a:pPr>
            <a:r>
              <a:rPr lang="en-US" sz="1300" dirty="0">
                <a:solidFill>
                  <a:srgbClr val="2A2E3A"/>
                </a:solidFill>
              </a:rPr>
              <a:t>Para profundizar</a:t>
            </a:r>
            <a:endParaRPr lang="en-US" sz="1300" dirty="0"/>
          </a:p>
        </p:txBody>
      </p:sp>
      <p:sp>
        <p:nvSpPr>
          <p:cNvPr id="8" name="Text 6"/>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UT05 · Sección 1 de 12</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Resultado de aprendizaje y criterios de evaluación</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RESULTADO DE APRENDIZAJE Y CRITERIOS DE EVALUACIÓN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Resultado de aprendizaje y criterios de evaluación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RA5.</a:t>
            </a:r>
            <a:endParaRPr lang="en-US" sz="1500" dirty="0"/>
          </a:p>
          <a:p>
            <a:pPr marL="342900" indent="-342900">
              <a:lnSpc>
                <a:spcPct val="108000"/>
              </a:lnSpc>
              <a:spcAft>
                <a:spcPts val="1200"/>
              </a:spcAft>
              <a:buSzPct val="100000"/>
              <a:buChar char="●"/>
            </a:pPr>
            <a:r>
              <a:rPr lang="en-US" sz="1500" dirty="0">
                <a:solidFill>
                  <a:srgbClr val="2A2E3A"/>
                </a:solidFill>
              </a:rPr>
              <a:t>Evalúa la importancia de los datos, así como su protección en una economía digital globalizada, definiendo sistemas de seguridad y ciberseguridad tanto a nivel de equipo/sistema, como globales.</a:t>
            </a:r>
            <a:endParaRPr lang="en-US" sz="1500" dirty="0"/>
          </a:p>
          <a:p>
            <a:pPr marL="342900" indent="-342900">
              <a:lnSpc>
                <a:spcPct val="108000"/>
              </a:lnSpc>
              <a:spcAft>
                <a:spcPts val="1200"/>
              </a:spcAft>
              <a:buSzPct val="100000"/>
              <a:buChar char="●"/>
            </a:pPr>
            <a:r>
              <a:rPr lang="en-US" sz="1500" dirty="0">
                <a:solidFill>
                  <a:srgbClr val="2A2E3A"/>
                </a:solidFill>
              </a:rPr>
              <a:t>Criterios de evaluación:</a:t>
            </a:r>
            <a:endParaRPr lang="en-US" sz="1500" dirty="0"/>
          </a:p>
          <a:p>
            <a:pPr marL="342900" indent="-342900">
              <a:lnSpc>
                <a:spcPct val="108000"/>
              </a:lnSpc>
              <a:spcAft>
                <a:spcPts val="1200"/>
              </a:spcAft>
              <a:buSzPct val="100000"/>
              <a:buChar char="●"/>
            </a:pPr>
            <a:r>
              <a:rPr lang="en-US" sz="1500" b="1" dirty="0">
                <a:solidFill>
                  <a:srgbClr val="1E2761"/>
                </a:solidFill>
              </a:rPr>
              <a:t>a)  </a:t>
            </a:r>
            <a:pPr indent="0" marL="0">
              <a:lnSpc>
                <a:spcPct val="108000"/>
              </a:lnSpc>
              <a:spcAft>
                <a:spcPts val="1200"/>
              </a:spcAft>
              <a:buNone/>
            </a:pPr>
            <a:r>
              <a:rPr lang="en-US" sz="1500" dirty="0">
                <a:solidFill>
                  <a:srgbClr val="2A2E3A"/>
                </a:solidFill>
              </a:rPr>
              <a:t>Se ha establecido la diferencia entre dato e información.</a:t>
            </a:r>
            <a:endParaRPr lang="en-US" sz="1500" dirty="0"/>
          </a:p>
          <a:p>
            <a:pPr marL="342900" indent="-342900">
              <a:lnSpc>
                <a:spcPct val="108000"/>
              </a:lnSpc>
              <a:spcAft>
                <a:spcPts val="1200"/>
              </a:spcAft>
              <a:buSzPct val="100000"/>
              <a:buChar char="●"/>
            </a:pPr>
            <a:r>
              <a:rPr lang="en-US" sz="1500" b="1" dirty="0">
                <a:solidFill>
                  <a:srgbClr val="1E2761"/>
                </a:solidFill>
              </a:rPr>
              <a:t>b)  </a:t>
            </a:r>
            <a:pPr indent="0" marL="0">
              <a:lnSpc>
                <a:spcPct val="108000"/>
              </a:lnSpc>
              <a:spcAft>
                <a:spcPts val="1200"/>
              </a:spcAft>
              <a:buNone/>
            </a:pPr>
            <a:r>
              <a:rPr lang="en-US" sz="1500" dirty="0">
                <a:solidFill>
                  <a:srgbClr val="2A2E3A"/>
                </a:solidFill>
              </a:rPr>
              <a:t>Se ha descrito el ciclo de vida del dato.</a:t>
            </a:r>
            <a:endParaRPr lang="en-US" sz="1500" dirty="0"/>
          </a:p>
          <a:p>
            <a:pPr marL="342900" indent="-342900">
              <a:lnSpc>
                <a:spcPct val="108000"/>
              </a:lnSpc>
              <a:spcAft>
                <a:spcPts val="1200"/>
              </a:spcAft>
              <a:buSzPct val="100000"/>
              <a:buChar char="●"/>
            </a:pPr>
            <a:r>
              <a:rPr lang="en-US" sz="1500" b="1" dirty="0">
                <a:solidFill>
                  <a:srgbClr val="1E2761"/>
                </a:solidFill>
              </a:rPr>
              <a:t>c)  </a:t>
            </a:r>
            <a:pPr indent="0" marL="0">
              <a:lnSpc>
                <a:spcPct val="108000"/>
              </a:lnSpc>
              <a:spcAft>
                <a:spcPts val="1200"/>
              </a:spcAft>
              <a:buNone/>
            </a:pPr>
            <a:r>
              <a:rPr lang="en-US" sz="1500" dirty="0">
                <a:solidFill>
                  <a:srgbClr val="2A2E3A"/>
                </a:solidFill>
              </a:rPr>
              <a:t>Se ha identificado la relación entre Big Data, análisis de datos, machine/deep learning e inteligencia artificial.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RESULTADO DE APRENDIZAJE Y CRITERIOS DE EVALUACIÓN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Resultado de aprendizaje y criterios de evaluación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d)  </a:t>
            </a:r>
            <a:pPr indent="0" marL="0">
              <a:lnSpc>
                <a:spcPct val="108000"/>
              </a:lnSpc>
              <a:spcAft>
                <a:spcPts val="1200"/>
              </a:spcAft>
              <a:buNone/>
            </a:pPr>
            <a:r>
              <a:rPr lang="en-US" sz="1500" dirty="0">
                <a:solidFill>
                  <a:srgbClr val="2A2E3A"/>
                </a:solidFill>
              </a:rPr>
              <a:t>Se han descrito las características que definen Big Data.</a:t>
            </a:r>
            <a:endParaRPr lang="en-US" sz="1500" dirty="0"/>
          </a:p>
          <a:p>
            <a:pPr marL="342900" indent="-342900">
              <a:lnSpc>
                <a:spcPct val="108000"/>
              </a:lnSpc>
              <a:spcAft>
                <a:spcPts val="1200"/>
              </a:spcAft>
              <a:buSzPct val="100000"/>
              <a:buChar char="●"/>
            </a:pPr>
            <a:r>
              <a:rPr lang="en-US" sz="1500" b="1" dirty="0">
                <a:solidFill>
                  <a:srgbClr val="1E2761"/>
                </a:solidFill>
              </a:rPr>
              <a:t>e)  </a:t>
            </a:r>
            <a:pPr indent="0" marL="0">
              <a:lnSpc>
                <a:spcPct val="108000"/>
              </a:lnSpc>
              <a:spcAft>
                <a:spcPts val="1200"/>
              </a:spcAft>
              <a:buNone/>
            </a:pPr>
            <a:r>
              <a:rPr lang="en-US" sz="1500" dirty="0">
                <a:solidFill>
                  <a:srgbClr val="2A2E3A"/>
                </a:solidFill>
              </a:rPr>
              <a:t>Se han descrito las etapas típicas de la ciencia de datos y su relación en el proceso.</a:t>
            </a:r>
            <a:endParaRPr lang="en-US" sz="1500" dirty="0"/>
          </a:p>
          <a:p>
            <a:pPr marL="342900" indent="-342900">
              <a:lnSpc>
                <a:spcPct val="108000"/>
              </a:lnSpc>
              <a:spcAft>
                <a:spcPts val="1200"/>
              </a:spcAft>
              <a:buSzPct val="100000"/>
              <a:buChar char="●"/>
            </a:pPr>
            <a:r>
              <a:rPr lang="en-US" sz="1500" b="1" dirty="0">
                <a:solidFill>
                  <a:srgbClr val="1E2761"/>
                </a:solidFill>
              </a:rPr>
              <a:t>f)  </a:t>
            </a:r>
            <a:pPr indent="0" marL="0">
              <a:lnSpc>
                <a:spcPct val="108000"/>
              </a:lnSpc>
              <a:spcAft>
                <a:spcPts val="1200"/>
              </a:spcAft>
              <a:buNone/>
            </a:pPr>
            <a:r>
              <a:rPr lang="en-US" sz="1500" dirty="0">
                <a:solidFill>
                  <a:srgbClr val="2A2E3A"/>
                </a:solidFill>
              </a:rPr>
              <a:t>Se han descrito los procedimientos de almacenaje de datos en la cloud/nube.</a:t>
            </a:r>
            <a:endParaRPr lang="en-US" sz="1500" dirty="0"/>
          </a:p>
          <a:p>
            <a:pPr marL="342900" indent="-342900">
              <a:lnSpc>
                <a:spcPct val="108000"/>
              </a:lnSpc>
              <a:spcAft>
                <a:spcPts val="1200"/>
              </a:spcAft>
              <a:buSzPct val="100000"/>
              <a:buChar char="●"/>
            </a:pPr>
            <a:r>
              <a:rPr lang="en-US" sz="1500" b="1" dirty="0">
                <a:solidFill>
                  <a:srgbClr val="1E2761"/>
                </a:solidFill>
              </a:rPr>
              <a:t>g)  </a:t>
            </a:r>
            <a:pPr indent="0" marL="0">
              <a:lnSpc>
                <a:spcPct val="108000"/>
              </a:lnSpc>
              <a:spcAft>
                <a:spcPts val="1200"/>
              </a:spcAft>
              <a:buNone/>
            </a:pPr>
            <a:r>
              <a:rPr lang="en-US" sz="1500" dirty="0">
                <a:solidFill>
                  <a:srgbClr val="2A2E3A"/>
                </a:solidFill>
              </a:rPr>
              <a:t>Se ha descrito la importancia del cloud computing.</a:t>
            </a:r>
            <a:endParaRPr lang="en-US" sz="1500" dirty="0"/>
          </a:p>
          <a:p>
            <a:pPr marL="342900" indent="-342900">
              <a:lnSpc>
                <a:spcPct val="108000"/>
              </a:lnSpc>
              <a:spcAft>
                <a:spcPts val="1200"/>
              </a:spcAft>
              <a:buSzPct val="100000"/>
              <a:buChar char="●"/>
            </a:pPr>
            <a:r>
              <a:rPr lang="en-US" sz="1500" b="1" dirty="0">
                <a:solidFill>
                  <a:srgbClr val="1E2761"/>
                </a:solidFill>
              </a:rPr>
              <a:t>h)  </a:t>
            </a:r>
            <a:pPr indent="0" marL="0">
              <a:lnSpc>
                <a:spcPct val="108000"/>
              </a:lnSpc>
              <a:spcAft>
                <a:spcPts val="1200"/>
              </a:spcAft>
              <a:buNone/>
            </a:pPr>
            <a:r>
              <a:rPr lang="en-US" sz="1500" dirty="0">
                <a:solidFill>
                  <a:srgbClr val="2A2E3A"/>
                </a:solidFill>
              </a:rPr>
              <a:t>Se han identificado los principales objetivos de la ciencia de datos en las diferentes empresas. i) Se ha valorado la importancia de la seguridad y su regulación en relación con los datos.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RESULTADO DE APRENDIZAJE Y CRITERIOS DE EVALUACIÓN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Resultado de aprendizaje y criterios de evaluación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Esta unidad se organiza en dos bloques que responden, cada uno, a una mitad del propio enunciado del RA5:</a:t>
            </a:r>
            <a:endParaRPr lang="en-US" sz="1500" dirty="0"/>
          </a:p>
          <a:p>
            <a:pPr marL="342900" indent="-342900">
              <a:lnSpc>
                <a:spcPct val="108000"/>
              </a:lnSpc>
              <a:spcAft>
                <a:spcPts val="1200"/>
              </a:spcAft>
              <a:buSzPct val="100000"/>
              <a:buChar char="●"/>
            </a:pPr>
            <a:r>
              <a:rPr lang="en-US" sz="1500" dirty="0">
                <a:solidFill>
                  <a:srgbClr val="2A2E3A"/>
                </a:solidFill>
              </a:rPr>
              <a:t>primero qué son los datos y cómo se convierten en valor (Big Data, ciencia de datos, cloud), y después cómo se protegen esos datos y la identidad de las personas que los generan, a través de certificados digitales, sistemas de identificación oficiales y firma electrónica.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2</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UT05 · Sección 2 de 12</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Dato e información: la materia prima de la economía digital</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DATO E INFORMACIÓN: LA MATERIA PRIMA DE LA ECONOMÍA DIGITAL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Dato e información: la materia prima de la economía digital</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punto de partida del RA5 (criterio a) es una distinción que parece trivial pero que sostiene todo lo demás: dato e información no son sinónimos.</a:t>
            </a:r>
            <a:endParaRPr lang="en-US" sz="1500" dirty="0"/>
          </a:p>
          <a:p>
            <a:pPr marL="342900" indent="-342900">
              <a:lnSpc>
                <a:spcPct val="108000"/>
              </a:lnSpc>
              <a:spcAft>
                <a:spcPts val="1200"/>
              </a:spcAft>
              <a:buSzPct val="100000"/>
              <a:buChar char="●"/>
            </a:pPr>
            <a:r>
              <a:rPr lang="en-US" sz="1500" b="1" dirty="0">
                <a:solidFill>
                  <a:srgbClr val="1E2761"/>
                </a:solidFill>
              </a:rPr>
              <a:t>Dato: </a:t>
            </a:r>
            <a:pPr indent="0" marL="0">
              <a:lnSpc>
                <a:spcPct val="108000"/>
              </a:lnSpc>
              <a:spcAft>
                <a:spcPts val="1200"/>
              </a:spcAft>
              <a:buNone/>
            </a:pPr>
            <a:r>
              <a:rPr lang="en-US" sz="1500" dirty="0">
                <a:solidFill>
                  <a:srgbClr val="2A2E3A"/>
                </a:solidFill>
              </a:rPr>
              <a:t>un elemento en bruto, sin procesar. Un número, una palabra, una medida aislada. Por sí solo no dice gran cosa: `23`, `Martínez`, `14:32`.</a:t>
            </a:r>
            <a:endParaRPr lang="en-US" sz="1500" dirty="0"/>
          </a:p>
          <a:p>
            <a:pPr marL="342900" indent="-342900">
              <a:lnSpc>
                <a:spcPct val="108000"/>
              </a:lnSpc>
              <a:spcAft>
                <a:spcPts val="1200"/>
              </a:spcAft>
              <a:buSzPct val="100000"/>
              <a:buChar char="●"/>
            </a:pPr>
            <a:r>
              <a:rPr lang="en-US" sz="1500" b="1" dirty="0">
                <a:solidFill>
                  <a:srgbClr val="1E2761"/>
                </a:solidFill>
              </a:rPr>
              <a:t>Información: </a:t>
            </a:r>
            <a:pPr indent="0" marL="0">
              <a:lnSpc>
                <a:spcPct val="108000"/>
              </a:lnSpc>
              <a:spcAft>
                <a:spcPts val="1200"/>
              </a:spcAft>
              <a:buNone/>
            </a:pPr>
            <a:r>
              <a:rPr lang="en-US" sz="1500" dirty="0">
                <a:solidFill>
                  <a:srgbClr val="2A2E3A"/>
                </a:solidFill>
              </a:rPr>
              <a:t>el resultado de procesar uno o varios datos, dándoles un contexto y un significado que permite tomar una decisión o extraer una conclusión. `La temperatura a las 14:32 era de 23°C` ya es información: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DATO E INFORMACIÓN: LA MATERIA PRIMA DE LA ECONOMÍA DIGITAL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Dato e información: la materia prima de la economía digital</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dato bruto se ha combinado con contexto (qué mide, cuándo, en qué unidad).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ECF7"/>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E2761"/>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i</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E2761"/>
                </a:solidFill>
              </a:rPr>
              <a:t>NOTA</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E2761"/>
                </a:solidFill>
                <a:latin typeface="Calibri" pitchFamily="34" charset="0"/>
                <a:ea typeface="Calibri" pitchFamily="34" charset="-122"/>
                <a:cs typeface="Calibri" pitchFamily="34" charset="-120"/>
              </a:rPr>
              <a:t>Dato + contexto + significado = información</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Una tabla con miles de filas de compras (`producto`, `fecha`, `importe`) es una colección de datos.</a:t>
            </a:r>
            <a:endParaRPr lang="en-US" sz="1500" dirty="0"/>
          </a:p>
          <a:p>
            <a:pPr marL="342900" indent="-342900">
              <a:lnSpc>
                <a:spcPct val="108000"/>
              </a:lnSpc>
              <a:spcAft>
                <a:spcPts val="1000"/>
              </a:spcAft>
              <a:buSzPct val="100000"/>
              <a:buChar char="●"/>
            </a:pPr>
            <a:r>
              <a:rPr lang="en-US" sz="1500" dirty="0">
                <a:solidFill>
                  <a:srgbClr val="2A2E3A"/>
                </a:solidFill>
              </a:rPr>
              <a:t>La misma tabla, analizada, que revela que "los viernes se venden un 40% más zapatillas que el resto de la semana", es información: alguien ha aplicado un proceso (agregación, comparación) que añade sentido a los datos brutos.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DATO E INFORMACIÓN: LA MATERIA PRIMA DE LA ECONOMÍA DIGITAL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Dato e información: la materia prima de la economía digital</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Esta distinción es la base de la llamada economía digital globalizada: las empresas no compiten hoy solo por vender productos, sino por su capacidad de convertir datos dispersos (clickstreams, transacciones, sensores, redes sociales) en información útil para decidir mejor y más rápido que la competencia.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DATO E INFORMACIÓN: LA MATERIA PRIMA DE LA ECONOMÍA DIGITAL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Dato e información: la materia prima de la economía digital</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Los datos se han convertido en un activo económico en sí mismo —de ahí la expresión, ya clásica, de que "el dato es el nuevo petróleo"—, con la particularidad de que, a diferencia del petróleo, un mismo dato puede reutilizarse, combinarse y explotarse simultáneamente por múltiples procesos sin agotarse.</a:t>
            </a:r>
            <a:endParaRPr lang="en-US" sz="1500" dirty="0"/>
          </a:p>
          <a:p>
            <a:pPr marL="342900" indent="-342900">
              <a:lnSpc>
                <a:spcPct val="108000"/>
              </a:lnSpc>
              <a:spcAft>
                <a:spcPts val="1200"/>
              </a:spcAft>
              <a:buSzPct val="100000"/>
              <a:buChar char="●"/>
            </a:pPr>
            <a:r>
              <a:rPr lang="en-US" sz="1500" dirty="0">
                <a:solidFill>
                  <a:srgbClr val="2A2E3A"/>
                </a:solidFill>
              </a:rPr>
              <a:t>Esta naturaleza de activo económico es precisamente lo que hace tan relevante el resto del RA5:</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DATO E INFORMACIÓN: LA MATERIA PRIMA DE LA ECONOMÍA DIGITAL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Dato e información: la materia prima de la economía digital</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un recurso que genera tanto valor también genera tanto riesgo si se pierde, se manipula o cae en manos no autorizadas, lo que conecta directamente con el bloque de protección de datos que ocupa la segunda mitad de esta unidad.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3</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UT05 · Sección 3 de 12</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El ciclo de vida del dato</a:t>
            </a:r>
            <a:endParaRPr lang="en-US" sz="3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EL CICLO DE VIDA DEL DATO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ciclo de vida del dato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(b) exige describir el ciclo de vida del dato: el conjunto de fases por las que atraviesa un dato desde que se genera hasta que deja de tener utilidad o se elimina.</a:t>
            </a:r>
            <a:endParaRPr lang="en-US" sz="1500" dirty="0"/>
          </a:p>
          <a:p>
            <a:pPr marL="342900" indent="-342900">
              <a:lnSpc>
                <a:spcPct val="108000"/>
              </a:lnSpc>
              <a:spcAft>
                <a:spcPts val="1200"/>
              </a:spcAft>
              <a:buSzPct val="100000"/>
              <a:buChar char="●"/>
            </a:pPr>
            <a:r>
              <a:rPr lang="en-US" sz="1500" dirty="0">
                <a:solidFill>
                  <a:srgbClr val="2A2E3A"/>
                </a:solidFill>
              </a:rPr>
              <a:t>Identificar estas fases es importante porque en cada una de ellas se juegan decisiones distintas de gestión y de seguridad.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EL CICLO DE VIDA DEL DATO</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El ciclo de vida del dato</a:t>
            </a:r>
            <a:endParaRPr lang="en-US" sz="2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682240"/>
                <a:gridCol w="2682240"/>
                <a:gridCol w="2682240"/>
              </a:tblGrid>
              <a:tr h="0">
                <a:tc>
                  <a:txBody>
                    <a:bodyPr/>
                    <a:lstStyle/>
                    <a:p>
                      <a:pPr indent="0" marL="0">
                        <a:buNone/>
                      </a:pPr>
                      <a:r>
                        <a:rPr lang="en-US" sz="1200" b="1" dirty="0">
                          <a:solidFill>
                            <a:srgbClr val="FFFFFF"/>
                          </a:solidFill>
                        </a:rPr>
                        <a:t>Fase</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Qué ocurre</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Ejemplo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1. Generación / recopilación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El dato nace: se mide, se introduce o se captura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Un formulario web, un sensor IoT, un registro (log) de un servidor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2. Almacenamiento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El dato se guarda de forma persistente, en un formato y una ubicación concretos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Base de datos relacional, data lake, hoja de cálculo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3. Procesamiento / análisis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El dato se limpia, se transforma y se analiza para extraer valor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ETL, consultas SQL, modelos de machine learning</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4. Uso / explotación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La información resultante se utiliza para decidir o para automatizar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Un informe de ventas, una recomendación de producto, una alerta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5. Archivo o eliminación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El dato deja de usarse activamente: se archiva por motivos legales o se elimina de forma segura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Copia de seguridad a largo plazo, borrado según normativa de protección de datos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El ciclo de vida no es solo técnico, también es legal</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La última fase del ciclo —archivo o eliminación— rara vez es una decisión puramente técnica.</a:t>
            </a:r>
            <a:endParaRPr lang="en-US" sz="1500" dirty="0"/>
          </a:p>
          <a:p>
            <a:pPr marL="342900" indent="-342900">
              <a:lnSpc>
                <a:spcPct val="108000"/>
              </a:lnSpc>
              <a:spcAft>
                <a:spcPts val="1000"/>
              </a:spcAft>
              <a:buSzPct val="100000"/>
              <a:buChar char="●"/>
            </a:pPr>
            <a:r>
              <a:rPr lang="en-US" sz="1500" dirty="0">
                <a:solidFill>
                  <a:srgbClr val="2A2E3A"/>
                </a:solidFill>
              </a:rPr>
              <a:t>Normativas como el Reglamento General de Protección de Datos (RGPD) obligan a conservar ciertos datos durante un plazo mínimo (por ejemplo, facturas) y a eliminar otros en cuanto dejan de ser necesarios para la finalidad que justificó su recogida.</a:t>
            </a:r>
            <a:endParaRPr lang="en-US" sz="1500" dirty="0"/>
          </a:p>
          <a:p>
            <a:pPr marL="342900" indent="-342900">
              <a:lnSpc>
                <a:spcPct val="108000"/>
              </a:lnSpc>
              <a:spcAft>
                <a:spcPts val="1000"/>
              </a:spcAft>
              <a:buSzPct val="100000"/>
              <a:buChar char="●"/>
            </a:pPr>
            <a:r>
              <a:rPr lang="en-US" sz="1500" dirty="0">
                <a:solidFill>
                  <a:srgbClr val="2A2E3A"/>
                </a:solidFill>
              </a:rPr>
              <a:t>Gestionar el ciclo de vida del dato es, por tanto, tan importante desde el punto de vista de la seguridad como desde el cumplimiento normativo (criterio i).</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EL CICLO DE VIDA DEL DATO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ciclo de vida del dato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Cada fase de este ciclo requiere medidas de protección distintas: cifrado y control de acceso en el almacenamiento, anonimización o seudonimización en el procesamiento, políticas de retención en el archivo.</a:t>
            </a:r>
            <a:endParaRPr lang="en-US" sz="1500" dirty="0"/>
          </a:p>
          <a:p>
            <a:pPr marL="342900" indent="-342900">
              <a:lnSpc>
                <a:spcPct val="108000"/>
              </a:lnSpc>
              <a:spcAft>
                <a:spcPts val="1200"/>
              </a:spcAft>
              <a:buSzPct val="100000"/>
              <a:buChar char="●"/>
            </a:pPr>
            <a:r>
              <a:rPr lang="en-US" sz="1500" dirty="0">
                <a:solidFill>
                  <a:srgbClr val="2A2E3A"/>
                </a:solidFill>
              </a:rPr>
              <a:t>Esta idea —que la seguridad no es una fase aislada sino algo transversal a todo el ciclo— es la que conecta este bloque introductorio con el Bloque B de la unidad.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4</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UT05 · Sección 4 de 12</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Big Data: características, ciencia de datos y relación con la IA</a:t>
            </a:r>
            <a:endParaRPr lang="en-US" sz="3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BIG DATA: CARACTERÍSTICAS, CIENCIA DE DATOS Y RELACIÓN CON LA IA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Qué es Big Data y sus características (las "V")</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Big Data hace referencia a conjuntos de datos tan grandes, rápidos o complejos que las herramientas tradicionales de gestión de bases de datos no pueden procesarlos de forma eficiente.</a:t>
            </a:r>
            <a:endParaRPr lang="en-US" sz="1500" dirty="0"/>
          </a:p>
          <a:p>
            <a:pPr marL="342900" indent="-342900">
              <a:lnSpc>
                <a:spcPct val="108000"/>
              </a:lnSpc>
              <a:spcAft>
                <a:spcPts val="1200"/>
              </a:spcAft>
              <a:buSzPct val="100000"/>
              <a:buChar char="●"/>
            </a:pPr>
            <a:r>
              <a:rPr lang="en-US" sz="1500" dirty="0">
                <a:solidFill>
                  <a:srgbClr val="2A2E3A"/>
                </a:solidFill>
              </a:rPr>
              <a:t>El criterio (d) pide describir las características que lo definen, habitualmente resumidas en las llamadas "V" del Big Data: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BIG DATA: CARACTERÍSTICAS, CIENCIA DE DATOS Y RELACIÓN CON LA IA</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Qué es Big Data y sus características (las "V")</a:t>
            </a:r>
            <a:endParaRPr lang="en-US" sz="2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Característica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Descripción</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Volumen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La cantidad de datos generados es masiva (terabytes, petabytes)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Velocidad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Los datos se generan y deben procesarse a gran rapidez, a menudo en tiempo real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Variedad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Los datos proceden de fuentes y formatos distintos: texto, imagen, vídeo, sensores, redes sociales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Veracidad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No todos los datos son fiables; hay que evaluar su calidad y su origen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Valor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El objetivo final: que el análisis del dato aporte un beneficio real a la organización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BIG DATA: CARACTERÍSTICAS, CIENCIA DE DATOS Y RELACIÓN CON LA IA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Relación entre Big Data, machine learning, deep learning e inteligencia artificial</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(c) exige identificar cómo se relacionan estos conceptos, que con frecuencia se confunden entre sí:</a:t>
            </a:r>
            <a:endParaRPr lang="en-US" sz="1500" dirty="0"/>
          </a:p>
          <a:p>
            <a:pPr marL="342900" indent="-342900">
              <a:lnSpc>
                <a:spcPct val="108000"/>
              </a:lnSpc>
              <a:spcAft>
                <a:spcPts val="1200"/>
              </a:spcAft>
              <a:buSzPct val="100000"/>
              <a:buChar char="●"/>
            </a:pPr>
            <a:r>
              <a:rPr lang="en-US" sz="1500" dirty="0">
                <a:solidFill>
                  <a:srgbClr val="2A2E3A"/>
                </a:solidFill>
              </a:rPr>
              <a:t>La inteligencia artificial (IA) es el campo más amplio: sistemas capaces de realizar tareas que, hasta ahora, requerían inteligencia humana (razonar, reconocer patrones, tomar decisiones).</a:t>
            </a:r>
            <a:endParaRPr lang="en-US" sz="1500" dirty="0"/>
          </a:p>
          <a:p>
            <a:pPr marL="342900" indent="-342900">
              <a:lnSpc>
                <a:spcPct val="108000"/>
              </a:lnSpc>
              <a:spcAft>
                <a:spcPts val="1200"/>
              </a:spcAft>
              <a:buSzPct val="100000"/>
              <a:buChar char="●"/>
            </a:pPr>
            <a:r>
              <a:rPr lang="en-US" sz="1500" dirty="0">
                <a:solidFill>
                  <a:srgbClr val="2A2E3A"/>
                </a:solidFill>
              </a:rPr>
              <a:t>El machine learning (aprendizaje automático) es una rama de la IA: algoritmos que aprenden patrones a partir de datos, sin ser programados explícitamente para cada caso.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BIG DATA: CARACTERÍSTICAS, CIENCIA DE DATOS Y RELACIÓN CON LA IA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Relación entre Big Data, machine learning, deep learning e inteligencia artificial</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deep learning (aprendizaje profundo) es, a su vez, una rama del machine learning basada en redes neuronales con múltiples capas, especialmente eficaz en tareas complejas como el reconocimiento de imágenes o el procesamiento del lenguaje natural.</a:t>
            </a:r>
            <a:endParaRPr lang="en-US" sz="1500" dirty="0"/>
          </a:p>
          <a:p>
            <a:pPr marL="342900" indent="-342900">
              <a:lnSpc>
                <a:spcPct val="108000"/>
              </a:lnSpc>
              <a:spcAft>
                <a:spcPts val="1200"/>
              </a:spcAft>
              <a:buSzPct val="100000"/>
              <a:buChar char="●"/>
            </a:pPr>
            <a:r>
              <a:rPr lang="en-US" sz="1500" dirty="0">
                <a:solidFill>
                  <a:srgbClr val="2A2E3A"/>
                </a:solidFill>
              </a:rPr>
              <a:t>El Big Data es el "combustible" que hace posible entrenar estos modelos: cuantos más datos de calidad estén disponibles, mejor puede aprender un algoritmo de machine learning o deep learning.</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8ECF7"/>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E2761"/>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i</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E2761"/>
                </a:solidFill>
              </a:rPr>
              <a:t>NOTA</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E2761"/>
                </a:solidFill>
                <a:latin typeface="Calibri" pitchFamily="34" charset="0"/>
                <a:ea typeface="Calibri" pitchFamily="34" charset="-122"/>
                <a:cs typeface="Calibri" pitchFamily="34" charset="-120"/>
              </a:rPr>
              <a:t>Círculos concéntricos, no sinónimos</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IA ⊃ Machine Learning ⊃ Deep Learning.</a:t>
            </a:r>
            <a:endParaRPr lang="en-US" sz="1500" dirty="0"/>
          </a:p>
          <a:p>
            <a:pPr marL="342900" indent="-342900">
              <a:lnSpc>
                <a:spcPct val="108000"/>
              </a:lnSpc>
              <a:spcAft>
                <a:spcPts val="1000"/>
              </a:spcAft>
              <a:buSzPct val="100000"/>
              <a:buChar char="●"/>
            </a:pPr>
            <a:r>
              <a:rPr lang="en-US" sz="1500" dirty="0">
                <a:solidFill>
                  <a:srgbClr val="2A2E3A"/>
                </a:solidFill>
              </a:rPr>
              <a:t>Todo sistema de deep learning es machine learning, y todo machine learning es un tipo de IA, pero no toda IA se basa en aprendizaje automático (existen sistemas basados en reglas expertas, por ejemplo).</a:t>
            </a:r>
            <a:endParaRPr lang="en-US" sz="1500" dirty="0"/>
          </a:p>
          <a:p>
            <a:pPr marL="342900" indent="-342900">
              <a:lnSpc>
                <a:spcPct val="108000"/>
              </a:lnSpc>
              <a:spcAft>
                <a:spcPts val="1000"/>
              </a:spcAft>
              <a:buSzPct val="100000"/>
              <a:buChar char="●"/>
            </a:pPr>
            <a:r>
              <a:rPr lang="en-US" sz="1500" dirty="0">
                <a:solidFill>
                  <a:srgbClr val="2A2E3A"/>
                </a:solidFill>
              </a:rPr>
              <a:t>El Big Data no forma parte de esta jerarquía, sino que es la materia prima que alimenta y hace viables los modelos de las capas interiores.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BIG DATA: CARACTERÍSTICAS, CIENCIA DE DATOS Y RELACIÓN CON LA IA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Etapas típicas de la ciencia de datos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(e) pide describir las etapas de la ciencia de datos y cómo se relacionan entre sí dentro de un mismo proceso:</a:t>
            </a:r>
            <a:endParaRPr lang="en-US" sz="1500" dirty="0"/>
          </a:p>
          <a:p>
            <a:pPr marL="342900" indent="-342900">
              <a:lnSpc>
                <a:spcPct val="108000"/>
              </a:lnSpc>
              <a:spcAft>
                <a:spcPts val="1200"/>
              </a:spcAft>
              <a:buSzPct val="100000"/>
              <a:buChar char="●"/>
            </a:pPr>
            <a:r>
              <a:rPr lang="en-US" sz="1500" b="1" dirty="0">
                <a:solidFill>
                  <a:srgbClr val="1E2761"/>
                </a:solidFill>
              </a:rPr>
              <a:t>Definición del problema: </a:t>
            </a:r>
            <a:pPr indent="0" marL="0">
              <a:lnSpc>
                <a:spcPct val="108000"/>
              </a:lnSpc>
              <a:spcAft>
                <a:spcPts val="1200"/>
              </a:spcAft>
              <a:buNone/>
            </a:pPr>
            <a:r>
              <a:rPr lang="en-US" sz="1500" dirty="0">
                <a:solidFill>
                  <a:srgbClr val="2A2E3A"/>
                </a:solidFill>
              </a:rPr>
              <a:t>qué pregunta de negocio se quiere responder o qué decisión se quiere mejorar.</a:t>
            </a:r>
            <a:endParaRPr lang="en-US" sz="1500" dirty="0"/>
          </a:p>
          <a:p>
            <a:pPr marL="342900" indent="-342900">
              <a:lnSpc>
                <a:spcPct val="108000"/>
              </a:lnSpc>
              <a:spcAft>
                <a:spcPts val="1200"/>
              </a:spcAft>
              <a:buSzPct val="100000"/>
              <a:buChar char="●"/>
            </a:pPr>
            <a:r>
              <a:rPr lang="en-US" sz="1500" b="1" dirty="0">
                <a:solidFill>
                  <a:srgbClr val="1E2761"/>
                </a:solidFill>
              </a:rPr>
              <a:t>Recopilación de datos: </a:t>
            </a:r>
            <a:pPr indent="0" marL="0">
              <a:lnSpc>
                <a:spcPct val="108000"/>
              </a:lnSpc>
              <a:spcAft>
                <a:spcPts val="1200"/>
              </a:spcAft>
              <a:buNone/>
            </a:pPr>
            <a:r>
              <a:rPr lang="en-US" sz="1500" dirty="0">
                <a:solidFill>
                  <a:srgbClr val="2A2E3A"/>
                </a:solidFill>
              </a:rPr>
              <a:t>identificar y reunir las fuentes de datos relevantes (bases de datos internas, APIs externas, sensores...).</a:t>
            </a:r>
            <a:endParaRPr lang="en-US" sz="1500" dirty="0"/>
          </a:p>
          <a:p>
            <a:pPr marL="342900" indent="-342900">
              <a:lnSpc>
                <a:spcPct val="108000"/>
              </a:lnSpc>
              <a:spcAft>
                <a:spcPts val="1200"/>
              </a:spcAft>
              <a:buSzPct val="100000"/>
              <a:buChar char="●"/>
            </a:pPr>
            <a:r>
              <a:rPr lang="en-US" sz="1500" b="1" dirty="0">
                <a:solidFill>
                  <a:srgbClr val="1E2761"/>
                </a:solidFill>
              </a:rPr>
              <a:t>Limpieza de datos: </a:t>
            </a:r>
            <a:pPr indent="0" marL="0">
              <a:lnSpc>
                <a:spcPct val="108000"/>
              </a:lnSpc>
              <a:spcAft>
                <a:spcPts val="1200"/>
              </a:spcAft>
              <a:buNone/>
            </a:pPr>
            <a:r>
              <a:rPr lang="en-US" sz="1500" dirty="0">
                <a:solidFill>
                  <a:srgbClr val="2A2E3A"/>
                </a:solidFill>
              </a:rPr>
              <a:t>corregir valores erróneos, duplicados o incompletos; una fase que suele consumir la mayor parte del tiempo del proyecto.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BIG DATA: CARACTERÍSTICAS, CIENCIA DE DATOS Y RELACIÓN CON LA IA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Etapas típicas de la ciencia de datos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Análisis exploratorio de datos (EDA)  </a:t>
            </a:r>
            <a:pPr indent="0" marL="0">
              <a:lnSpc>
                <a:spcPct val="108000"/>
              </a:lnSpc>
              <a:spcAft>
                <a:spcPts val="1200"/>
              </a:spcAft>
              <a:buNone/>
            </a:pPr>
            <a:r>
              <a:rPr lang="en-US" sz="1500" dirty="0">
                <a:solidFill>
                  <a:srgbClr val="2A2E3A"/>
                </a:solidFill>
              </a:rPr>
              <a:t>explorar los datos con estadística descriptiva y visualizaciones para detectar patrones, tendencias o anomalías.</a:t>
            </a:r>
            <a:endParaRPr lang="en-US" sz="1500" dirty="0"/>
          </a:p>
          <a:p>
            <a:pPr marL="342900" indent="-342900">
              <a:lnSpc>
                <a:spcPct val="108000"/>
              </a:lnSpc>
              <a:spcAft>
                <a:spcPts val="1200"/>
              </a:spcAft>
              <a:buSzPct val="100000"/>
              <a:buChar char="●"/>
            </a:pPr>
            <a:r>
              <a:rPr lang="en-US" sz="1500" b="1" dirty="0">
                <a:solidFill>
                  <a:srgbClr val="1E2761"/>
                </a:solidFill>
              </a:rPr>
              <a:t>Modelado: </a:t>
            </a:r>
            <a:pPr indent="0" marL="0">
              <a:lnSpc>
                <a:spcPct val="108000"/>
              </a:lnSpc>
              <a:spcAft>
                <a:spcPts val="1200"/>
              </a:spcAft>
              <a:buNone/>
            </a:pPr>
            <a:r>
              <a:rPr lang="en-US" sz="1500" dirty="0">
                <a:solidFill>
                  <a:srgbClr val="2A2E3A"/>
                </a:solidFill>
              </a:rPr>
              <a:t>aplicar técnicas estadísticas o de machine learning para construir un modelo predictivo o descriptivo.</a:t>
            </a:r>
            <a:endParaRPr lang="en-US" sz="1500" dirty="0"/>
          </a:p>
          <a:p>
            <a:pPr marL="342900" indent="-342900">
              <a:lnSpc>
                <a:spcPct val="108000"/>
              </a:lnSpc>
              <a:spcAft>
                <a:spcPts val="1200"/>
              </a:spcAft>
              <a:buSzPct val="100000"/>
              <a:buChar char="●"/>
            </a:pPr>
            <a:r>
              <a:rPr lang="en-US" sz="1500" b="1" dirty="0">
                <a:solidFill>
                  <a:srgbClr val="1E2761"/>
                </a:solidFill>
              </a:rPr>
              <a:t>Comunicación de resultados: </a:t>
            </a:r>
            <a:pPr indent="0" marL="0">
              <a:lnSpc>
                <a:spcPct val="108000"/>
              </a:lnSpc>
              <a:spcAft>
                <a:spcPts val="1200"/>
              </a:spcAft>
              <a:buNone/>
            </a:pPr>
            <a:r>
              <a:rPr lang="en-US" sz="1500" dirty="0">
                <a:solidFill>
                  <a:srgbClr val="2A2E3A"/>
                </a:solidFill>
              </a:rPr>
              <a:t>presentar las conclusiones de forma comprensible a quien debe tomar la decisión, habitualmente mediante informes o cuadros de mando.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BIG DATA: CARACTERÍSTICAS, CIENCIA DE DATOS Y RELACIÓN CON LA IA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Etapas típicas de la ciencia de datos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Estas etapas no son estrictamente lineales: </a:t>
            </a:r>
            <a:pPr indent="0" marL="0">
              <a:lnSpc>
                <a:spcPct val="108000"/>
              </a:lnSpc>
              <a:spcAft>
                <a:spcPts val="1200"/>
              </a:spcAft>
              <a:buNone/>
            </a:pPr>
            <a:r>
              <a:rPr lang="en-US" sz="1500" dirty="0">
                <a:solidFill>
                  <a:srgbClr val="2A2E3A"/>
                </a:solidFill>
              </a:rPr>
              <a:t>es habitual volver a una fase anterior (por ejemplo, recopilar más datos) si el análisis exploratorio revela que los disponibles son insuficientes o de mala calidad.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BIG DATA: CARACTERÍSTICAS, CIENCIA DE DATOS Y RELACIÓN CON LA IA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Almacenamiento de datos en la nube y cloud computing</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(f) exige describir los procedimientos de almacenaje de datos en la nube.</a:t>
            </a:r>
            <a:endParaRPr lang="en-US" sz="1500" dirty="0"/>
          </a:p>
          <a:p>
            <a:pPr marL="342900" indent="-342900">
              <a:lnSpc>
                <a:spcPct val="108000"/>
              </a:lnSpc>
              <a:spcAft>
                <a:spcPts val="1200"/>
              </a:spcAft>
              <a:buSzPct val="100000"/>
              <a:buChar char="●"/>
            </a:pPr>
            <a:r>
              <a:rPr lang="en-US" sz="1500" dirty="0">
                <a:solidFill>
                  <a:srgbClr val="2A2E3A"/>
                </a:solidFill>
              </a:rPr>
              <a:t>Los dos modelos de referencia son: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BIG DATA: CARACTERÍSTICAS, CIENCIA DE DATOS Y RELACIÓN CON LA IA</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Almacenamiento de datos en la nube y cloud computing</a:t>
            </a:r>
            <a:endParaRPr lang="en-US" sz="2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682240"/>
                <a:gridCol w="2682240"/>
                <a:gridCol w="2682240"/>
              </a:tblGrid>
              <a:tr h="0">
                <a:tc>
                  <a:txBody>
                    <a:bodyPr/>
                    <a:lstStyle/>
                    <a:p>
                      <a:pPr indent="0" marL="0">
                        <a:buNone/>
                      </a:pPr>
                      <a:r>
                        <a:rPr lang="en-US" sz="1200" b="1" dirty="0">
                          <a:solidFill>
                            <a:srgbClr val="FFFFFF"/>
                          </a:solidFill>
                        </a:rPr>
                        <a:t>Modelo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Qué almacena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Uso típico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Data warehouse (almacén de datos)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Datos estructurados, ya procesados y organizados en esquemas definidos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Informes de negocio, cuadros de mando (BI)</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Data lake (lago de datos)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Datos en bruto, estructurados y no estructurados, en su formato original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Análisis exploratorio, entrenamiento de modelos de machine learning</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BIG DATA: CARACTERÍSTICAS, CIENCIA DE DATOS Y RELACIÓN CON LA IA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Almacenamiento de datos en la nube y cloud computing</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cloud computing (criterio g) es lo que hace viable, en la práctica, el almacenamiento y procesamiento de Big Data para la mayoría de organizaciones:</a:t>
            </a:r>
            <a:endParaRPr lang="en-US" sz="1500" dirty="0"/>
          </a:p>
          <a:p>
            <a:pPr marL="342900" indent="-342900">
              <a:lnSpc>
                <a:spcPct val="108000"/>
              </a:lnSpc>
              <a:spcAft>
                <a:spcPts val="1200"/>
              </a:spcAft>
              <a:buSzPct val="100000"/>
              <a:buChar char="●"/>
            </a:pPr>
            <a:r>
              <a:rPr lang="en-US" sz="1500" dirty="0">
                <a:solidFill>
                  <a:srgbClr val="2A2E3A"/>
                </a:solidFill>
              </a:rPr>
              <a:t>en lugar de invertir en infraestructura propia, una empresa contrata capacidad de almacenamiento y cómputo bajo demanda a proveedores como AWS, Microsoft Azure o Google Cloud.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BIG DATA: CARACTERÍSTICAS, CIENCIA DE DATOS Y RELACIÓN CON LA IA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Almacenamiento de datos en la nube y cloud computing</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Esto aporta escalabilidad (crecer o reducir recursos según la necesidad puntual), pago por uso (sin grandes inversiones iniciales) y acceso desde cualquier lugar, tres factores que explican por qué prácticamente ningún proyecto moderno de ciencia de datos se plantea hoy sin apoyarse, en mayor o menor medida, en la nube.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BIG DATA: CARACTERÍSTICAS, CIENCIA DE DATOS Y RELACIÓN CON LA IA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Objetivos de la ciencia de datos en las empresas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(h) pide identificar los principales objetivos que persigue la ciencia de datos en un contexto empresarial:</a:t>
            </a:r>
            <a:endParaRPr lang="en-US" sz="1500" dirty="0"/>
          </a:p>
          <a:p>
            <a:pPr marL="342900" indent="-342900">
              <a:lnSpc>
                <a:spcPct val="108000"/>
              </a:lnSpc>
              <a:spcAft>
                <a:spcPts val="1200"/>
              </a:spcAft>
              <a:buSzPct val="100000"/>
              <a:buChar char="●"/>
            </a:pPr>
            <a:r>
              <a:rPr lang="en-US" sz="1500" b="1" dirty="0">
                <a:solidFill>
                  <a:srgbClr val="1E2761"/>
                </a:solidFill>
              </a:rPr>
              <a:t>Optimizar procesos internos: </a:t>
            </a:r>
            <a:pPr indent="0" marL="0">
              <a:lnSpc>
                <a:spcPct val="108000"/>
              </a:lnSpc>
              <a:spcAft>
                <a:spcPts val="1200"/>
              </a:spcAft>
              <a:buNone/>
            </a:pPr>
            <a:r>
              <a:rPr lang="en-US" sz="1500" dirty="0">
                <a:solidFill>
                  <a:srgbClr val="2A2E3A"/>
                </a:solidFill>
              </a:rPr>
              <a:t>reducir costes, mejorar la eficiencia de la cadena de producción o logística.</a:t>
            </a:r>
            <a:endParaRPr lang="en-US" sz="1500" dirty="0"/>
          </a:p>
          <a:p>
            <a:pPr marL="342900" indent="-342900">
              <a:lnSpc>
                <a:spcPct val="108000"/>
              </a:lnSpc>
              <a:spcAft>
                <a:spcPts val="1200"/>
              </a:spcAft>
              <a:buSzPct val="100000"/>
              <a:buChar char="●"/>
            </a:pPr>
            <a:r>
              <a:rPr lang="en-US" sz="1500" b="1" dirty="0">
                <a:solidFill>
                  <a:srgbClr val="1E2761"/>
                </a:solidFill>
              </a:rPr>
              <a:t>Anticipar el comportamiento del cliente: </a:t>
            </a:r>
            <a:pPr indent="0" marL="0">
              <a:lnSpc>
                <a:spcPct val="108000"/>
              </a:lnSpc>
              <a:spcAft>
                <a:spcPts val="1200"/>
              </a:spcAft>
              <a:buNone/>
            </a:pPr>
            <a:r>
              <a:rPr lang="en-US" sz="1500" dirty="0">
                <a:solidFill>
                  <a:srgbClr val="2A2E3A"/>
                </a:solidFill>
              </a:rPr>
              <a:t>predecir qué productos comprará, cuándo abandonará el servicio (churn), qué precio está dispuesto a pagar.</a:t>
            </a:r>
            <a:endParaRPr lang="en-US" sz="1500" dirty="0"/>
          </a:p>
          <a:p>
            <a:pPr marL="342900" indent="-342900">
              <a:lnSpc>
                <a:spcPct val="108000"/>
              </a:lnSpc>
              <a:spcAft>
                <a:spcPts val="1200"/>
              </a:spcAft>
              <a:buSzPct val="100000"/>
              <a:buChar char="●"/>
            </a:pPr>
            <a:r>
              <a:rPr lang="en-US" sz="1500" b="1" dirty="0">
                <a:solidFill>
                  <a:srgbClr val="1E2761"/>
                </a:solidFill>
              </a:rPr>
              <a:t>Detectar fraude y anomalías: </a:t>
            </a:r>
            <a:pPr indent="0" marL="0">
              <a:lnSpc>
                <a:spcPct val="108000"/>
              </a:lnSpc>
              <a:spcAft>
                <a:spcPts val="1200"/>
              </a:spcAft>
              <a:buNone/>
            </a:pPr>
            <a:r>
              <a:rPr lang="en-US" sz="1500" dirty="0">
                <a:solidFill>
                  <a:srgbClr val="2A2E3A"/>
                </a:solidFill>
              </a:rPr>
              <a:t>identificar patrones de comportamiento sospechosos en tiempo real.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BIG DATA: CARACTERÍSTICAS, CIENCIA DE DATOS Y RELACIÓN CON LA IA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Objetivos de la ciencia de datos en las empresas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Personalizar la experiencia: </a:t>
            </a:r>
            <a:pPr indent="0" marL="0">
              <a:lnSpc>
                <a:spcPct val="108000"/>
              </a:lnSpc>
              <a:spcAft>
                <a:spcPts val="1200"/>
              </a:spcAft>
              <a:buNone/>
            </a:pPr>
            <a:r>
              <a:rPr lang="en-US" sz="1500" dirty="0">
                <a:solidFill>
                  <a:srgbClr val="2A2E3A"/>
                </a:solidFill>
              </a:rPr>
              <a:t>recomendaciones de contenido o producto adaptadas a cada usuario.</a:t>
            </a:r>
            <a:endParaRPr lang="en-US" sz="1500" dirty="0"/>
          </a:p>
          <a:p>
            <a:pPr marL="342900" indent="-342900">
              <a:lnSpc>
                <a:spcPct val="108000"/>
              </a:lnSpc>
              <a:spcAft>
                <a:spcPts val="1200"/>
              </a:spcAft>
              <a:buSzPct val="100000"/>
              <a:buChar char="●"/>
            </a:pPr>
            <a:r>
              <a:rPr lang="en-US" sz="1500" b="1" dirty="0">
                <a:solidFill>
                  <a:srgbClr val="1E2761"/>
                </a:solidFill>
              </a:rPr>
              <a:t>Apoyar la toma de decisiones estratégicas: </a:t>
            </a:r>
            <a:pPr indent="0" marL="0">
              <a:lnSpc>
                <a:spcPct val="108000"/>
              </a:lnSpc>
              <a:spcAft>
                <a:spcPts val="1200"/>
              </a:spcAft>
              <a:buNone/>
            </a:pPr>
            <a:r>
              <a:rPr lang="en-US" sz="1500" dirty="0">
                <a:solidFill>
                  <a:srgbClr val="2A2E3A"/>
                </a:solidFill>
              </a:rPr>
              <a:t>sustituir la intuición por evidencia basada en datos (data-driven decision making).</a:t>
            </a:r>
            <a:endParaRPr lang="en-US" sz="1500" dirty="0"/>
          </a:p>
          <a:p>
            <a:pPr marL="342900" indent="-342900">
              <a:lnSpc>
                <a:spcPct val="108000"/>
              </a:lnSpc>
              <a:spcAft>
                <a:spcPts val="1200"/>
              </a:spcAft>
              <a:buSzPct val="100000"/>
              <a:buChar char="●"/>
            </a:pPr>
            <a:r>
              <a:rPr lang="en-US" sz="1500" dirty="0">
                <a:solidFill>
                  <a:srgbClr val="2A2E3A"/>
                </a:solidFill>
              </a:rPr>
              <a:t>Todos estos objetivos comparten un mismo requisito de fondo, que es precisamente el que da paso al segundo bloque de esta unidad:</a:t>
            </a:r>
            <a:endParaRPr lang="en-US" sz="1500" dirty="0"/>
          </a:p>
          <a:p>
            <a:pPr marL="342900" indent="-342900">
              <a:lnSpc>
                <a:spcPct val="108000"/>
              </a:lnSpc>
              <a:spcAft>
                <a:spcPts val="1200"/>
              </a:spcAft>
              <a:buSzPct val="100000"/>
              <a:buChar char="●"/>
            </a:pPr>
            <a:r>
              <a:rPr lang="en-US" sz="1500" dirty="0">
                <a:solidFill>
                  <a:srgbClr val="2A2E3A"/>
                </a:solidFill>
              </a:rPr>
              <a:t>los datos que hacen posible ese valor —muchos de ellos personales o sensibles— deben protegerse, tanto por obligación legal como por responsabilidad frente a las personas a las que pertenecen (criterio i).</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5</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UT05 · Sección 5 de 12</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La seguridad de los datos y la identidad digital: por qué importa</a:t>
            </a:r>
            <a:endParaRPr lang="en-US" sz="3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LA SEGURIDAD DE LOS DATOS Y LA IDENTIDAD DIGITAL: POR QUÉ IMPORTA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La seguridad de los datos y la identidad digital: por qué importa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Antes de entrar en herramientas concretas conviene fijar la idea central del criterio (i): la importancia de los datos como activo (Bloque A) tiene como contrapartida inevitable la necesidad de protegerlos, y esa protección empieza por algo muy concreto:</a:t>
            </a:r>
            <a:endParaRPr lang="en-US" sz="1500" dirty="0"/>
          </a:p>
          <a:p>
            <a:pPr marL="342900" indent="-342900">
              <a:lnSpc>
                <a:spcPct val="108000"/>
              </a:lnSpc>
              <a:spcAft>
                <a:spcPts val="1200"/>
              </a:spcAft>
              <a:buSzPct val="100000"/>
              <a:buChar char="●"/>
            </a:pPr>
            <a:r>
              <a:rPr lang="en-US" sz="1500" dirty="0">
                <a:solidFill>
                  <a:srgbClr val="2A2E3A"/>
                </a:solidFill>
              </a:rPr>
              <a:t>poder demostrar de forma fiable quién es quién en el mundo digital.</a:t>
            </a:r>
            <a:endParaRPr lang="en-US" sz="1500" dirty="0"/>
          </a:p>
          <a:p>
            <a:pPr marL="342900" indent="-342900">
              <a:lnSpc>
                <a:spcPct val="108000"/>
              </a:lnSpc>
              <a:spcAft>
                <a:spcPts val="1200"/>
              </a:spcAft>
              <a:buSzPct val="100000"/>
              <a:buChar char="●"/>
            </a:pPr>
            <a:r>
              <a:rPr lang="en-US" sz="1500" dirty="0">
                <a:solidFill>
                  <a:srgbClr val="2A2E3A"/>
                </a:solidFill>
              </a:rPr>
              <a:t>Un dato mal protegido no solo se pierde: puede robarse, alterarse o utilizarse para suplantar una identidad.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LA SEGURIDAD DE LOS DATOS Y LA IDENTIDAD DIGITAL: POR QUÉ IMPORTA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La seguridad de los datos y la identidad digital: por qué importa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identidad digital —y su forma más avanzada, la firma electrónica— resuelve un problema muy similar al del DNI físico, pero en un entorno donde no existe el papel ni la presencia física:</a:t>
            </a:r>
            <a:endParaRPr lang="en-US" sz="1500" dirty="0"/>
          </a:p>
          <a:p>
            <a:pPr marL="342900" indent="-342900">
              <a:lnSpc>
                <a:spcPct val="108000"/>
              </a:lnSpc>
              <a:spcAft>
                <a:spcPts val="1200"/>
              </a:spcAft>
              <a:buSzPct val="100000"/>
              <a:buChar char="●"/>
            </a:pPr>
            <a:r>
              <a:rPr lang="en-US" sz="1500" dirty="0">
                <a:solidFill>
                  <a:srgbClr val="2A2E3A"/>
                </a:solidFill>
              </a:rPr>
              <a:t>¿cómo garantiza un sistema que la persona que está al otro lado de una pantalla es realmente quien dice ser, y cómo garantiza que un documento firmado electrónicamente no ha sido manipulado?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LA SEGURIDAD DE LOS DATOS Y LA IDENTIDAD DIGITAL: POR QUÉ IMPORTA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La seguridad de los datos y la identidad digital: por qué importa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Este bloque desarrolla, de menor a mayor complejidad, las herramientas reales que existen hoy en España para responder a esa pregunta: el DNI electrónico, los certificados digitales emitidos por la FNMT, el sistema Cl@ve del Gobierno, y la firma digital de documentos con Autofirma.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6</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UT05 · Sección 6 de 12</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El DNI electrónico (DNIe): la identidad física convertida en identidad digital</a:t>
            </a:r>
            <a:endParaRPr lang="en-US" sz="3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EL DNI ELECTRÓNICO (DNIE): LA IDENTIDAD FÍSICA CONVERTIDA EN IDENTIDAD DIGITAL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DNI electrónico (DNIe): la identidad física convertida en identidad digital</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DNI electrónico (DNIe) es la versión digital del Documento Nacional de Identidad español.</a:t>
            </a:r>
            <a:endParaRPr lang="en-US" sz="1500" dirty="0"/>
          </a:p>
          <a:p>
            <a:pPr marL="342900" indent="-342900">
              <a:lnSpc>
                <a:spcPct val="108000"/>
              </a:lnSpc>
              <a:spcAft>
                <a:spcPts val="1200"/>
              </a:spcAft>
              <a:buSzPct val="100000"/>
              <a:buChar char="●"/>
            </a:pPr>
            <a:r>
              <a:rPr lang="en-US" sz="1500" dirty="0">
                <a:solidFill>
                  <a:srgbClr val="2A2E3A"/>
                </a:solidFill>
              </a:rPr>
              <a:t>Se introdujo en 2006 y se actualizó en 2015 con la versión DNIe 3.0, que incorpora tecnología NFC (comunicación de campo cercano), permitiendo su lectura sin necesidad de un lector de tarjetas físico, simplemente acercándolo a un dispositivo móvil compatible.</a:t>
            </a:r>
            <a:endParaRPr lang="en-US" sz="1500" dirty="0"/>
          </a:p>
          <a:p>
            <a:pPr marL="342900" indent="-342900">
              <a:lnSpc>
                <a:spcPct val="108000"/>
              </a:lnSpc>
              <a:spcAft>
                <a:spcPts val="1200"/>
              </a:spcAft>
              <a:buSzPct val="100000"/>
              <a:buChar char="●"/>
            </a:pPr>
            <a:r>
              <a:rPr lang="en-US" sz="1500" dirty="0">
                <a:solidFill>
                  <a:srgbClr val="2A2E3A"/>
                </a:solidFill>
              </a:rPr>
              <a:t>El DNIe incorpora un chip criptográfico que almacena, además de los datos personales habituales, dos certificados electrónicos con funciones distintas: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EL DNI ELECTRÓNICO (DNIE): LA IDENTIDAD FÍSICA CONVERTIDA EN IDENTIDAD DIGITAL</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El DNI electrónico (DNIe): la identidad física convertida en identidad digital</a:t>
            </a:r>
            <a:endParaRPr lang="en-US" sz="2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Certificado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Función</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Certificado de Autenticación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Acredita la identidad electrónica de la persona ante terceros (equivalente a "presentar el DNI" online)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Certificado de Firma Electrónica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Permite firmar documentos electrónicamente con la misma validez jurídica que una firma manuscrita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E8ECF7"/>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E2761"/>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i</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E2761"/>
                </a:solidFill>
              </a:rPr>
              <a:t>NOTA</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E2761"/>
                </a:solidFill>
                <a:latin typeface="Calibri" pitchFamily="34" charset="0"/>
                <a:ea typeface="Calibri" pitchFamily="34" charset="-122"/>
                <a:cs typeface="Calibri" pitchFamily="34" charset="-120"/>
              </a:rPr>
              <a:t>Misma validez legal que la firma en papel</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Este es uno de los puntos clave que justifica la relevancia de todo este bloque: la firma electrónica realizada con el DNIe no es un "sustituto informal" de la firma manuscrita, sino que tiene la misma validez jurídica, reconocida por la legislación española y europea (Reglamento eIDAS).</a:t>
            </a:r>
            <a:endParaRPr lang="en-US" sz="1500" dirty="0"/>
          </a:p>
          <a:p>
            <a:pPr marL="342900" indent="-342900">
              <a:lnSpc>
                <a:spcPct val="108000"/>
              </a:lnSpc>
              <a:spcAft>
                <a:spcPts val="1000"/>
              </a:spcAft>
              <a:buSzPct val="100000"/>
              <a:buChar char="●"/>
            </a:pPr>
            <a:r>
              <a:rPr lang="en-US" sz="1500" dirty="0">
                <a:solidFill>
                  <a:srgbClr val="2A2E3A"/>
                </a:solidFill>
              </a:rPr>
              <a:t>Firmar un contrato con el DNIe compromete legalmente igual que firmarlo con bolígrafo.</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EL DNI ELECTRÓNICO (DNIE): LA IDENTIDAD FÍSICA CONVERTIDA EN IDENTIDAD DIGITAL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DNI electrónico (DNIe): la identidad física convertida en identidad digital</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DNIe se obtiene en las oficinas de expedición del DNI (comisarías de la Policía Nacional habilitadas), donde se toman los datos biométricos y se emite físicamente la tarjeta.</a:t>
            </a:r>
            <a:endParaRPr lang="en-US" sz="1500" dirty="0"/>
          </a:p>
          <a:p>
            <a:pPr marL="342900" indent="-342900">
              <a:lnSpc>
                <a:spcPct val="108000"/>
              </a:lnSpc>
              <a:spcAft>
                <a:spcPts val="1200"/>
              </a:spcAft>
              <a:buSzPct val="100000"/>
              <a:buChar char="●"/>
            </a:pPr>
            <a:r>
              <a:rPr lang="en-US" sz="1500" dirty="0">
                <a:solidFill>
                  <a:srgbClr val="2A2E3A"/>
                </a:solidFill>
              </a:rPr>
              <a:t>Sus usos habituales incluyen:</a:t>
            </a:r>
            <a:endParaRPr lang="en-US" sz="1500" dirty="0"/>
          </a:p>
          <a:p>
            <a:pPr marL="342900" indent="-342900">
              <a:lnSpc>
                <a:spcPct val="108000"/>
              </a:lnSpc>
              <a:spcAft>
                <a:spcPts val="1200"/>
              </a:spcAft>
              <a:buSzPct val="100000"/>
              <a:buChar char="●"/>
            </a:pPr>
            <a:r>
              <a:rPr lang="en-US" sz="1500" dirty="0">
                <a:solidFill>
                  <a:srgbClr val="2A2E3A"/>
                </a:solidFill>
              </a:rPr>
              <a:t>Trámites con las Administraciones Públicas (AAPP).</a:t>
            </a:r>
            <a:endParaRPr lang="en-US" sz="1500" dirty="0"/>
          </a:p>
          <a:p>
            <a:pPr marL="342900" indent="-342900">
              <a:lnSpc>
                <a:spcPct val="108000"/>
              </a:lnSpc>
              <a:spcAft>
                <a:spcPts val="1200"/>
              </a:spcAft>
              <a:buSzPct val="100000"/>
              <a:buChar char="●"/>
            </a:pPr>
            <a:r>
              <a:rPr lang="en-US" sz="1500" dirty="0">
                <a:solidFill>
                  <a:srgbClr val="2A2E3A"/>
                </a:solidFill>
              </a:rPr>
              <a:t>Solicitud de certificados oficiales (nacimiento, vida laboral).</a:t>
            </a:r>
            <a:endParaRPr lang="en-US" sz="1500" dirty="0"/>
          </a:p>
          <a:p>
            <a:pPr marL="342900" indent="-342900">
              <a:lnSpc>
                <a:spcPct val="108000"/>
              </a:lnSpc>
              <a:spcAft>
                <a:spcPts val="1200"/>
              </a:spcAft>
              <a:buSzPct val="100000"/>
              <a:buChar char="●"/>
            </a:pPr>
            <a:r>
              <a:rPr lang="en-US" sz="1500" dirty="0">
                <a:solidFill>
                  <a:srgbClr val="2A2E3A"/>
                </a:solidFill>
              </a:rPr>
              <a:t>Presentación de la declaración de impuestos.</a:t>
            </a:r>
            <a:endParaRPr lang="en-US" sz="1500" dirty="0"/>
          </a:p>
          <a:p>
            <a:pPr marL="342900" indent="-342900">
              <a:lnSpc>
                <a:spcPct val="108000"/>
              </a:lnSpc>
              <a:spcAft>
                <a:spcPts val="1200"/>
              </a:spcAft>
              <a:buSzPct val="100000"/>
              <a:buChar char="●"/>
            </a:pPr>
            <a:r>
              <a:rPr lang="en-US" sz="1500" dirty="0">
                <a:solidFill>
                  <a:srgbClr val="2A2E3A"/>
                </a:solidFill>
              </a:rPr>
              <a:t>Compras y banca online.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EL DNI ELECTRÓNICO (DNIE): LA IDENTIDAD FÍSICA CONVERTIDA EN IDENTIDAD DIGITAL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DNI electrónico (DNIe): la identidad física convertida en identidad digital</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Acceso seguro a edificios o a equipos informáticos.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EL DNI ELECTRÓNICO (DNIE): LA IDENTIDAD FÍSICA CONVERTIDA EN IDENTIDAD DIGITAL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Activación del DNIe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Cuando se recoge el DNIe en la oficina de expedición, se entrega junto con un PIN en un sobre cerrado.</a:t>
            </a:r>
            <a:endParaRPr lang="en-US" sz="1500" dirty="0"/>
          </a:p>
          <a:p>
            <a:pPr marL="342900" indent="-342900">
              <a:lnSpc>
                <a:spcPct val="108000"/>
              </a:lnSpc>
              <a:spcAft>
                <a:spcPts val="1200"/>
              </a:spcAft>
              <a:buSzPct val="100000"/>
              <a:buChar char="●"/>
            </a:pPr>
            <a:r>
              <a:rPr lang="en-US" sz="1500" dirty="0">
                <a:solidFill>
                  <a:srgbClr val="2A2E3A"/>
                </a:solidFill>
              </a:rPr>
              <a:t>La activación puede realizarse de dos formas:</a:t>
            </a:r>
            <a:endParaRPr lang="en-US" sz="1500" dirty="0"/>
          </a:p>
          <a:p>
            <a:pPr marL="342900" indent="-342900">
              <a:lnSpc>
                <a:spcPct val="108000"/>
              </a:lnSpc>
              <a:spcAft>
                <a:spcPts val="1200"/>
              </a:spcAft>
              <a:buSzPct val="100000"/>
              <a:buChar char="●"/>
            </a:pPr>
            <a:r>
              <a:rPr lang="en-US" sz="1500" dirty="0">
                <a:solidFill>
                  <a:srgbClr val="2A2E3A"/>
                </a:solidFill>
              </a:rPr>
              <a:t>En un Punto de Actualización del DNI (PAD): verificando la identidad mediante huella dactilar y el PIN recibido.</a:t>
            </a:r>
            <a:endParaRPr lang="en-US" sz="1500" dirty="0"/>
          </a:p>
          <a:p>
            <a:pPr marL="342900" indent="-342900">
              <a:lnSpc>
                <a:spcPct val="108000"/>
              </a:lnSpc>
              <a:spcAft>
                <a:spcPts val="1200"/>
              </a:spcAft>
              <a:buSzPct val="100000"/>
              <a:buChar char="●"/>
            </a:pPr>
            <a:r>
              <a:rPr lang="en-US" sz="1500" b="1" dirty="0">
                <a:solidFill>
                  <a:srgbClr val="1E2761"/>
                </a:solidFill>
              </a:rPr>
              <a:t>Desde casa: </a:t>
            </a:r>
            <a:pPr indent="0" marL="0">
              <a:lnSpc>
                <a:spcPct val="108000"/>
              </a:lnSpc>
              <a:spcAft>
                <a:spcPts val="1200"/>
              </a:spcAft>
              <a:buNone/>
            </a:pPr>
            <a:r>
              <a:rPr lang="en-US" sz="1500" dirty="0">
                <a:solidFill>
                  <a:srgbClr val="2A2E3A"/>
                </a:solidFill>
              </a:rPr>
              <a:t>con un lector de tarjetas compatible con el estándar ISO 7816, comprobando el correcto funcionamiento en el sitio oficial www.dnielectronico.es.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EL DNI ELECTRÓNICO (DNIE): LA IDENTIDAD FÍSICA CONVERTIDA EN IDENTIDAD DIGITAL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Renovación de los certificados del DNIe</a:t>
            </a:r>
            <a:endParaRPr lang="en-US" sz="2300" dirty="0"/>
          </a:p>
        </p:txBody>
      </p:sp>
      <p:sp>
        <p:nvSpPr>
          <p:cNvPr id="5" name="Text 3"/>
          <p:cNvSpPr/>
          <p:nvPr/>
        </p:nvSpPr>
        <p:spPr>
          <a:xfrm>
            <a:off x="54864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b="1" dirty="0">
                <a:solidFill>
                  <a:srgbClr val="1E2761"/>
                </a:solidFill>
              </a:rPr>
              <a:t>Los certificados del DNIe no son permanentes: </a:t>
            </a:r>
            <a:pPr indent="0" marL="0">
              <a:lnSpc>
                <a:spcPct val="105000"/>
              </a:lnSpc>
              <a:spcAft>
                <a:spcPts val="1000"/>
              </a:spcAft>
              <a:buNone/>
            </a:pPr>
            <a:r>
              <a:rPr lang="en-US" sz="1500" dirty="0">
                <a:solidFill>
                  <a:srgbClr val="2A2E3A"/>
                </a:solidFill>
              </a:rPr>
              <a:t>tienen una vigencia actual de 60 meses (5 años).</a:t>
            </a:r>
            <a:endParaRPr lang="en-US" sz="1500" dirty="0"/>
          </a:p>
          <a:p>
            <a:pPr marL="342900" indent="-342900">
              <a:lnSpc>
                <a:spcPct val="105000"/>
              </a:lnSpc>
              <a:spcAft>
                <a:spcPts val="1000"/>
              </a:spcAft>
              <a:buSzPct val="100000"/>
              <a:buChar char="●"/>
            </a:pPr>
            <a:r>
              <a:rPr lang="en-US" sz="1500" dirty="0">
                <a:solidFill>
                  <a:srgbClr val="2A2E3A"/>
                </a:solidFill>
              </a:rPr>
              <a:t>Su renovación:</a:t>
            </a:r>
            <a:endParaRPr lang="en-US" sz="1500" dirty="0"/>
          </a:p>
          <a:p>
            <a:pPr marL="342900" indent="-342900">
              <a:lnSpc>
                <a:spcPct val="105000"/>
              </a:lnSpc>
              <a:spcAft>
                <a:spcPts val="1000"/>
              </a:spcAft>
              <a:buSzPct val="100000"/>
              <a:buChar char="●"/>
            </a:pPr>
            <a:r>
              <a:rPr lang="en-US" sz="1500" dirty="0">
                <a:solidFill>
                  <a:srgbClr val="2A2E3A"/>
                </a:solidFill>
              </a:rPr>
              <a:t>Se realiza en un PAD de cualquier comisaría, sin necesidad de cita previa, seleccionando la opción "Renovar Certificados".</a:t>
            </a:r>
            <a:endParaRPr lang="en-US" sz="1500" dirty="0"/>
          </a:p>
        </p:txBody>
      </p:sp>
      <p:sp>
        <p:nvSpPr>
          <p:cNvPr id="6" name="Text 4"/>
          <p:cNvSpPr/>
          <p:nvPr/>
        </p:nvSpPr>
        <p:spPr>
          <a:xfrm>
            <a:off x="452628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dirty="0">
                <a:solidFill>
                  <a:srgbClr val="2A2E3A"/>
                </a:solidFill>
              </a:rPr>
              <a:t>Requiere verificación mediante huella dactilar.</a:t>
            </a:r>
            <a:endParaRPr lang="en-US" sz="1500" dirty="0"/>
          </a:p>
          <a:p>
            <a:pPr marL="342900" indent="-342900">
              <a:lnSpc>
                <a:spcPct val="105000"/>
              </a:lnSpc>
              <a:spcAft>
                <a:spcPts val="1000"/>
              </a:spcAft>
              <a:buSzPct val="100000"/>
              <a:buChar char="●"/>
            </a:pPr>
            <a:r>
              <a:rPr lang="en-US" sz="1500" dirty="0">
                <a:solidFill>
                  <a:srgbClr val="2A2E3A"/>
                </a:solidFill>
              </a:rPr>
              <a:t>Es gratuita.</a:t>
            </a:r>
            <a:endParaRPr lang="en-US" sz="1500" dirty="0"/>
          </a:p>
          <a:p>
            <a:pPr marL="342900" indent="-342900">
              <a:lnSpc>
                <a:spcPct val="105000"/>
              </a:lnSpc>
              <a:spcAft>
                <a:spcPts val="1000"/>
              </a:spcAft>
              <a:buSzPct val="100000"/>
              <a:buChar char="●"/>
            </a:pPr>
            <a:r>
              <a:rPr lang="en-US" sz="1500" dirty="0">
                <a:solidFill>
                  <a:srgbClr val="2A2E3A"/>
                </a:solidFill>
              </a:rPr>
              <a:t>Puede realizarse en los 60 días previos a la caducidad de los certificados.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EL DNI ELECTRÓNICO (DNIE): LA IDENTIDAD FÍSICA CONVERTIDA EN IDENTIDAD DIGITAL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Renovación de los certificados del DNIe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fecha de caducidad puede comprobarse a través de la app oficial "Mi Carpeta Ciudadana" o en la sede electrónica de la FNMT.</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BEEDF"/>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C1712F"/>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8A4B14"/>
                </a:solidFill>
              </a:rPr>
              <a:t>AVISO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8A4B14"/>
                </a:solidFill>
                <a:latin typeface="Calibri" pitchFamily="34" charset="0"/>
                <a:ea typeface="Calibri" pitchFamily="34" charset="-122"/>
                <a:cs typeface="Calibri" pitchFamily="34" charset="-120"/>
              </a:rPr>
              <a:t>Certificados caducados, DNI en vigor</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Es un error frecuente asumir que si el DNI físico no ha caducado, sus certificados electrónicos tampoco lo han hecho.</a:t>
            </a:r>
            <a:endParaRPr lang="en-US" sz="1500" dirty="0"/>
          </a:p>
          <a:p>
            <a:pPr marL="342900" indent="-342900">
              <a:lnSpc>
                <a:spcPct val="108000"/>
              </a:lnSpc>
              <a:spcAft>
                <a:spcPts val="1000"/>
              </a:spcAft>
              <a:buSzPct val="100000"/>
              <a:buChar char="●"/>
            </a:pPr>
            <a:r>
              <a:rPr lang="en-US" sz="1500" b="1" dirty="0">
                <a:solidFill>
                  <a:srgbClr val="8A4B14"/>
                </a:solidFill>
              </a:rPr>
              <a:t>Ambas caducidades son independientes: </a:t>
            </a:r>
            <a:pPr indent="0" marL="0">
              <a:lnSpc>
                <a:spcPct val="108000"/>
              </a:lnSpc>
              <a:spcAft>
                <a:spcPts val="1000"/>
              </a:spcAft>
              <a:buNone/>
            </a:pPr>
            <a:r>
              <a:rPr lang="en-US" sz="1500" dirty="0">
                <a:solidFill>
                  <a:srgbClr val="2A2E3A"/>
                </a:solidFill>
              </a:rPr>
              <a:t>un DNIe puede estar en vigor como documento de identidad y, al mismo tiempo, tener sus certificados electrónicos caducados si no se han renovado dentro del plazo de 60 meses.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7</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UT05 · Sección 7 de 12</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Certificados digitales y la FNMT como Autoridad de Certificación</a:t>
            </a:r>
            <a:endParaRPr lang="en-US" sz="3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CERTIFICADOS DIGITALES Y LA FNMT COMO AUTORIDAD DE CERTIFICACIÓN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Certificados digitales y la FNMT como Autoridad de Certificación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Más allá del DNIe, cualquier persona o entidad puede disponer de un certificado digital independiente.</a:t>
            </a:r>
            <a:endParaRPr lang="en-US" sz="1500" dirty="0"/>
          </a:p>
          <a:p>
            <a:pPr marL="342900" indent="-342900">
              <a:lnSpc>
                <a:spcPct val="108000"/>
              </a:lnSpc>
              <a:spcAft>
                <a:spcPts val="1200"/>
              </a:spcAft>
              <a:buSzPct val="100000"/>
              <a:buChar char="●"/>
            </a:pPr>
            <a:r>
              <a:rPr lang="en-US" sz="1500" dirty="0">
                <a:solidFill>
                  <a:srgbClr val="2A2E3A"/>
                </a:solidFill>
              </a:rPr>
              <a:t>Un certificado digital es un documento electrónico que vincula una identidad digital —de una persona física, una persona jurídica o una entidad— con una clave criptográfica, emitido por una Autoridad de Certificación (AC) y con un periodo de validez determinado.</a:t>
            </a:r>
            <a:endParaRPr lang="en-US" sz="1500" dirty="0"/>
          </a:p>
          <a:p>
            <a:pPr marL="342900" indent="-342900">
              <a:lnSpc>
                <a:spcPct val="108000"/>
              </a:lnSpc>
              <a:spcAft>
                <a:spcPts val="1200"/>
              </a:spcAft>
              <a:buSzPct val="100000"/>
              <a:buChar char="●"/>
            </a:pPr>
            <a:r>
              <a:rPr lang="en-US" sz="1500" dirty="0">
                <a:solidFill>
                  <a:srgbClr val="2A2E3A"/>
                </a:solidFill>
              </a:rPr>
              <a:t>Su funcionamiento se basa en criptografía de clave pública (un par de claves, una privada que custodia el titular y otra pública que se puede compartir para verificar la firma).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CERTIFICADOS DIGITALES Y LA FNMT COMO AUTORIDAD DE CERTIFICACIÓN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Certificados digitales y la FNMT como Autoridad de Certificación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En España, la Autoridad de Certificación de referencia es la FNMT (Fábrica Nacional de Moneda y Timbre), a través de su Real Casa de la Moneda, que emite certificados reconocidos y de uso generalizado tanto por particulares como por empresas y Administraciones Públicas.</a:t>
            </a:r>
            <a:endParaRPr lang="en-US" sz="1500" dirty="0"/>
          </a:p>
          <a:p>
            <a:pPr marL="342900" indent="-342900">
              <a:lnSpc>
                <a:spcPct val="108000"/>
              </a:lnSpc>
              <a:spcAft>
                <a:spcPts val="1200"/>
              </a:spcAft>
              <a:buSzPct val="100000"/>
              <a:buChar char="●"/>
            </a:pPr>
            <a:r>
              <a:rPr lang="en-US" sz="1500" dirty="0">
                <a:solidFill>
                  <a:srgbClr val="2A2E3A"/>
                </a:solidFill>
              </a:rPr>
              <a:t>Existen tres tipos principales de certificado digital, según a quién o qué identifican: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CERTIFICADOS DIGITALES Y LA FNMT COMO AUTORIDAD DE CERTIFICACIÓN</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Certificados digitales y la FNMT como Autoridad de Certificación</a:t>
            </a:r>
            <a:endParaRPr lang="en-US" sz="22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682240"/>
                <a:gridCol w="2682240"/>
                <a:gridCol w="2682240"/>
              </a:tblGrid>
              <a:tr h="0">
                <a:tc>
                  <a:txBody>
                    <a:bodyPr/>
                    <a:lstStyle/>
                    <a:p>
                      <a:pPr indent="0" marL="0">
                        <a:buNone/>
                      </a:pPr>
                      <a:r>
                        <a:rPr lang="en-US" sz="1200" b="1" dirty="0">
                          <a:solidFill>
                            <a:srgbClr val="FFFFFF"/>
                          </a:solidFill>
                        </a:rPr>
                        <a:t>Tipo de certificado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A quién identifica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Uso típico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Certificado de persona física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Un individuo concreto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Trámites con la AAPP, firma de documentos propios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Certificado de persona jurídica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Una empresa o entidad, actuando en su nombre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Trámites corporativos (impuestos, contratación pública)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Certificado de servidor SSL/TLS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Un sitio web, no una persona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Autenticar la identidad de un dominio y cifrar la conexión (el candado del navegador); esencial en comercio electrónico y banca online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El candado del navegador también es un certificado digital</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Cuando un usuario compra en una tienda online y ve el candado junto a la URL, está confiando en un certificado SSL/TLS que identifica ese servidor concreto y cifra la comunicación.</a:t>
            </a:r>
            <a:endParaRPr lang="en-US" sz="1500" dirty="0"/>
          </a:p>
          <a:p>
            <a:pPr marL="342900" indent="-342900">
              <a:lnSpc>
                <a:spcPct val="108000"/>
              </a:lnSpc>
              <a:spcAft>
                <a:spcPts val="1000"/>
              </a:spcAft>
              <a:buSzPct val="100000"/>
              <a:buChar char="●"/>
            </a:pPr>
            <a:r>
              <a:rPr lang="en-US" sz="1500" dirty="0">
                <a:solidFill>
                  <a:srgbClr val="2A2E3A"/>
                </a:solidFill>
              </a:rPr>
              <a:t>Es el mismo concepto de fondo que el certificado de persona física —una identidad digital verificada por una Autoridad de Certificación—, pero aplicado a un servidor en lugar de a un individuo.</a:t>
            </a:r>
            <a:endParaRPr lang="en-US" sz="1500" dirty="0"/>
          </a:p>
          <a:p>
            <a:pPr marL="342900" indent="-342900">
              <a:lnSpc>
                <a:spcPct val="108000"/>
              </a:lnSpc>
              <a:spcAft>
                <a:spcPts val="1000"/>
              </a:spcAft>
              <a:buSzPct val="100000"/>
              <a:buChar char="●"/>
            </a:pPr>
            <a:r>
              <a:rPr lang="en-US" sz="1500" dirty="0">
                <a:solidFill>
                  <a:srgbClr val="2A2E3A"/>
                </a:solidFill>
              </a:rPr>
              <a:t>Sin este tipo de certificado, no existiría el comercio electrónico ni la banca online tal como se conocen hoy.</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CERTIFICADOS DIGITALES Y LA FNMT COMO AUTORIDAD DE CERTIFICACIÓN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Cómo obtener un certificado digital de la FNMT</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FNMT ofrece cuatro métodos distintos para obtener un certificado digital de persona física, con diferencias importantes entre ellos: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CERTIFICADOS DIGITALES Y LA FNMT COMO AUTORIDAD DE CERTIFICACIÓN</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Cómo obtener un certificado digital de la FNMT</a:t>
            </a:r>
            <a:endParaRPr lang="en-US" sz="2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011680"/>
                <a:gridCol w="2011680"/>
                <a:gridCol w="2011680"/>
                <a:gridCol w="2011680"/>
              </a:tblGrid>
              <a:tr h="0">
                <a:tc>
                  <a:txBody>
                    <a:bodyPr/>
                    <a:lstStyle/>
                    <a:p>
                      <a:pPr indent="0" marL="0">
                        <a:buNone/>
                      </a:pPr>
                      <a:r>
                        <a:rPr lang="en-US" sz="1200" b="1" dirty="0">
                          <a:solidFill>
                            <a:srgbClr val="FFFFFF"/>
                          </a:solidFill>
                        </a:rPr>
                        <a:t>Método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Modalidad</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Coste</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Detalle</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Videoidentificación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100% online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De pago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Verificación mediante videollamada con un operador; proceso rápido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Acreditación presencial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Solicitud online + visita a oficina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Gratuito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Se genera un código de solicitud online y se acredita la identidad presencialmente en una oficina de registro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Mediante DNI electrónico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100% online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Gratuito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Se utiliza el propio DNIe y su PIN para acreditar la identidad sin desplazamientos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Dispositivo móvil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App "Certificado Digital FNMT"</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Gratuito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Lectura del DNIe mediante NFC desde el propio smartphone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CERTIFICADOS DIGITALES Y LA FNMT COMO AUTORIDAD DE CERTIFICACIÓN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Cómo obtener un certificado digital de la FNMT</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elección del método depende, sobre todo, de si la persona dispone ya de un DNIe activado (lo que permite completar todo el proceso online y sin coste) o prefiere/necesita recurrir a la videoidentificación o a la vía presencial.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8</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UT05 · Sección 8 de 12</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El sistema Cl@ve: identificación digital unificada del Gobierno de España</a:t>
            </a:r>
            <a:endParaRPr lang="en-US" sz="3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EL SISTEMA CL@VE: IDENTIFICACIÓN DIGITAL UNIFICADA DEL GOBIERNO DE ESPAÑA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sistema Cl@ve: identificación digital unificada del Gobierno de España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Cl@ve es la plataforma de identificación digital del Gobierno de España diseñada para simplificar el acceso electrónico a los servicios públicos, evitando que cada ciudadano tenga que gestionar un certificado digital distinto para cada organismo.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EL SISTEMA CL@VE: IDENTIFICACIÓN DIGITAL UNIFICADA DEL GOBIERNO DE ESPAÑA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Registro en Cl@ve</a:t>
            </a:r>
            <a:endParaRPr lang="en-US" sz="2300" dirty="0"/>
          </a:p>
        </p:txBody>
      </p:sp>
      <p:sp>
        <p:nvSpPr>
          <p:cNvPr id="5" name="Text 3"/>
          <p:cNvSpPr/>
          <p:nvPr/>
        </p:nvSpPr>
        <p:spPr>
          <a:xfrm>
            <a:off x="54864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dirty="0">
                <a:solidFill>
                  <a:srgbClr val="2A2E3A"/>
                </a:solidFill>
              </a:rPr>
              <a:t>El alta en el sistema puede realizarse por tres vías:</a:t>
            </a:r>
            <a:endParaRPr lang="en-US" sz="1500" dirty="0"/>
          </a:p>
          <a:p>
            <a:pPr marL="342900" indent="-342900">
              <a:lnSpc>
                <a:spcPct val="105000"/>
              </a:lnSpc>
              <a:spcAft>
                <a:spcPts val="1000"/>
              </a:spcAft>
              <a:buSzPct val="100000"/>
              <a:buChar char="●"/>
            </a:pPr>
            <a:r>
              <a:rPr lang="en-US" sz="1500" dirty="0">
                <a:solidFill>
                  <a:srgbClr val="2A2E3A"/>
                </a:solidFill>
              </a:rPr>
              <a:t>Por internet, utilizando un certificado digital o el DNIe ya activado (proporciona el nivel avanzado de registro).</a:t>
            </a:r>
            <a:endParaRPr lang="en-US" sz="1500" dirty="0"/>
          </a:p>
          <a:p>
            <a:pPr marL="342900" indent="-342900">
              <a:lnSpc>
                <a:spcPct val="105000"/>
              </a:lnSpc>
              <a:spcAft>
                <a:spcPts val="1000"/>
              </a:spcAft>
              <a:buSzPct val="100000"/>
              <a:buChar char="●"/>
            </a:pPr>
            <a:r>
              <a:rPr lang="en-US" sz="1500" dirty="0">
                <a:solidFill>
                  <a:srgbClr val="2A2E3A"/>
                </a:solidFill>
              </a:rPr>
              <a:t>Presencialmente, en una oficina de registro habilitada.</a:t>
            </a:r>
            <a:endParaRPr lang="en-US" sz="1500" dirty="0"/>
          </a:p>
        </p:txBody>
      </p:sp>
      <p:sp>
        <p:nvSpPr>
          <p:cNvPr id="6" name="Text 4"/>
          <p:cNvSpPr/>
          <p:nvPr/>
        </p:nvSpPr>
        <p:spPr>
          <a:xfrm>
            <a:off x="452628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dirty="0">
                <a:solidFill>
                  <a:srgbClr val="2A2E3A"/>
                </a:solidFill>
              </a:rPr>
              <a:t>Mediante carta de invitación, enviada por correo postal, que proporciona un nivel básico de registro.</a:t>
            </a:r>
            <a:endParaRPr lang="en-US" sz="1500" dirty="0"/>
          </a:p>
          <a:p>
            <a:pPr marL="342900" indent="-342900">
              <a:lnSpc>
                <a:spcPct val="105000"/>
              </a:lnSpc>
              <a:spcAft>
                <a:spcPts val="1000"/>
              </a:spcAft>
              <a:buSzPct val="100000"/>
              <a:buChar char="●"/>
            </a:pPr>
            <a:r>
              <a:rPr lang="en-US" sz="1500" dirty="0">
                <a:solidFill>
                  <a:srgbClr val="2A2E3A"/>
                </a:solidFill>
              </a:rPr>
              <a:t>En cualquiera de los casos se aportan el número de teléfono, el correo electrónico y el DNI/NIE, y se recibe un SMS de confirmación que valida el proceso.</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EL SISTEMA CL@VE: IDENTIFICACIÓN DIGITAL UNIFICADA DEL GOBIERNO DE ESPAÑA</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Las cuatro modalidades de Cl@ve</a:t>
            </a:r>
            <a:endParaRPr lang="en-US" sz="22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682240"/>
                <a:gridCol w="2682240"/>
                <a:gridCol w="2682240"/>
              </a:tblGrid>
              <a:tr h="0">
                <a:tc>
                  <a:txBody>
                    <a:bodyPr/>
                    <a:lstStyle/>
                    <a:p>
                      <a:pPr indent="0" marL="0">
                        <a:buNone/>
                      </a:pPr>
                      <a:r>
                        <a:rPr lang="en-US" sz="1200" b="1" dirty="0">
                          <a:solidFill>
                            <a:srgbClr val="FFFFFF"/>
                          </a:solidFill>
                        </a:rPr>
                        <a:t>Modalidad</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Cómo funciona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Cuándo se usa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Cl@ve Permanente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Usuario y contraseña de validez aproximada de 1 año, reforzada con un SMS adicional en trámites sensibles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Uso frecuente y continuado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Cl@ve PIN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Código de un solo uso, enviado por SMS o generado por app, sin necesidad de recordar una contraseña fija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Uso esporádico u ocasional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Cl@ve Móvil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App oficial "Cl@ve": confirma trámites mediante notificación push o lectura de un código QR; integra en una sola app el PIN y la Permanente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Gestión desde el smartphone, sin lector ni certificado instalado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Cl@ve Firma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Firma electrónica en la nube, custodiada por la Dirección General de Policía y la Seguridad Social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Solo para trámites de la Administración Pública, nunca para documentos propios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BEEDF"/>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C1712F"/>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8A4B14"/>
                </a:solidFill>
              </a:rPr>
              <a:t>AVISO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8A4B14"/>
                </a:solidFill>
                <a:latin typeface="Calibri" pitchFamily="34" charset="0"/>
                <a:ea typeface="Calibri" pitchFamily="34" charset="-122"/>
                <a:cs typeface="Calibri" pitchFamily="34" charset="-120"/>
              </a:rPr>
              <a:t>Cl@ve Firma no sustituye a un certificado digital propio</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Es importante no confundir Cl@ve Firma con un certificado digital de uso general: Cl@ve Firma permite firmar trámites concretos de la Administración Pública sin necesidad de tener un certificado instalado en el equipo, pero no sirve para firmar documentos propios (un contrato entre particulares, por ejemplo).</a:t>
            </a:r>
            <a:endParaRPr lang="en-US" sz="1500" dirty="0"/>
          </a:p>
          <a:p>
            <a:pPr marL="342900" indent="-342900">
              <a:lnSpc>
                <a:spcPct val="108000"/>
              </a:lnSpc>
              <a:spcAft>
                <a:spcPts val="1000"/>
              </a:spcAft>
              <a:buSzPct val="100000"/>
              <a:buChar char="●"/>
            </a:pPr>
            <a:r>
              <a:rPr lang="en-US" sz="1500" dirty="0">
                <a:solidFill>
                  <a:srgbClr val="2A2E3A"/>
                </a:solidFill>
              </a:rPr>
              <a:t>Para eso hace falta un certificado digital instalado localmente, como los que emite la FNMT, o el certificado de firma del propio DNIe.</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9</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UT05 · Sección 9 de 12</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Instalación y uso de certificados digitales en el navegador</a:t>
            </a:r>
            <a:endParaRPr lang="en-US" sz="3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INSTALACIÓN Y USO DE CERTIFICADOS DIGITALES EN EL NAVEGADOR</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Instalación y uso de certificados digitales en el navegador</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Una vez obtenido un certificado digital (en formato de archivo, típicamente `.p12` o `.pfx`), es necesario instalarlo en el almacén de certificados del sistema operativo o del navegador antes de poder utilizarlo:</a:t>
            </a:r>
            <a:endParaRPr lang="en-US" sz="1500" dirty="0"/>
          </a:p>
          <a:p>
            <a:pPr marL="342900" indent="-342900">
              <a:lnSpc>
                <a:spcPct val="108000"/>
              </a:lnSpc>
              <a:spcAft>
                <a:spcPts val="1200"/>
              </a:spcAft>
              <a:buSzPct val="100000"/>
              <a:buChar char="●"/>
            </a:pPr>
            <a:r>
              <a:rPr lang="en-US" sz="1500" b="1" dirty="0">
                <a:solidFill>
                  <a:srgbClr val="1E2761"/>
                </a:solidFill>
              </a:rPr>
              <a:t>Importar el certificado: </a:t>
            </a:r>
            <a:pPr indent="0" marL="0">
              <a:lnSpc>
                <a:spcPct val="108000"/>
              </a:lnSpc>
              <a:spcAft>
                <a:spcPts val="1200"/>
              </a:spcAft>
              <a:buNone/>
            </a:pPr>
            <a:r>
              <a:rPr lang="en-US" sz="1500" dirty="0">
                <a:solidFill>
                  <a:srgbClr val="2A2E3A"/>
                </a:solidFill>
              </a:rPr>
              <a:t>en Chrome, desde `Configuración → Privacidad y seguridad → Seguridad → Gestionar certificados`;</a:t>
            </a:r>
            <a:endParaRPr lang="en-US" sz="1500" dirty="0"/>
          </a:p>
          <a:p>
            <a:pPr marL="342900" indent="-342900">
              <a:lnSpc>
                <a:spcPct val="108000"/>
              </a:lnSpc>
              <a:spcAft>
                <a:spcPts val="1200"/>
              </a:spcAft>
              <a:buSzPct val="100000"/>
              <a:buChar char="●"/>
            </a:pPr>
            <a:r>
              <a:rPr lang="en-US" sz="1500" dirty="0">
                <a:solidFill>
                  <a:srgbClr val="2A2E3A"/>
                </a:solidFill>
              </a:rPr>
              <a:t>en Firefox, desde `Configuración → Privacidad y Seguridad → Certificados → Ver certificados → Importar`. Ambos navegadores ofrecen un asistente de importación que solicita la contraseña del archivo del certificado.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INSTALACIÓN Y USO DE CERTIFICADOS DIGITALES EN EL NAVEGADOR</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Instalación y uso de certificados digitales en el navegador</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Completar el asistente de instalación, seleccionando el almacén de certificados de destino (personal, de confianza) y confirmando la operación.</a:t>
            </a:r>
            <a:endParaRPr lang="en-US" sz="1500" dirty="0"/>
          </a:p>
          <a:p>
            <a:pPr marL="342900" indent="-342900">
              <a:lnSpc>
                <a:spcPct val="108000"/>
              </a:lnSpc>
              <a:spcAft>
                <a:spcPts val="1200"/>
              </a:spcAft>
              <a:buSzPct val="100000"/>
              <a:buChar char="●"/>
            </a:pPr>
            <a:r>
              <a:rPr lang="en-US" sz="1500" b="1" dirty="0">
                <a:solidFill>
                  <a:srgbClr val="1E2761"/>
                </a:solidFill>
              </a:rPr>
              <a:t>Utilizar el certificado: </a:t>
            </a:r>
            <a:pPr indent="0" marL="0">
              <a:lnSpc>
                <a:spcPct val="108000"/>
              </a:lnSpc>
              <a:spcAft>
                <a:spcPts val="1200"/>
              </a:spcAft>
              <a:buNone/>
            </a:pPr>
            <a:r>
              <a:rPr lang="en-US" sz="1500" dirty="0">
                <a:solidFill>
                  <a:srgbClr val="2A2E3A"/>
                </a:solidFill>
              </a:rPr>
              <a:t>al acceder a una sede electrónica que ofrezca acceso mediante certificado digital, el usuario selecciona la opción "Certificado Digital" como método de identificación, y el navegador solicita elegir cuál de los certificados instalados presentar.</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E3F3EC"/>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F8A63"/>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15C43"/>
                </a:solidFill>
              </a:rPr>
              <a:t>CONSEJO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15C43"/>
                </a:solidFill>
                <a:latin typeface="Calibri" pitchFamily="34" charset="0"/>
                <a:ea typeface="Calibri" pitchFamily="34" charset="-122"/>
                <a:cs typeface="Calibri" pitchFamily="34" charset="-120"/>
              </a:rPr>
              <a:t>Comprobar antes de necesitarlo</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Es buena práctica comprobar que un certificado se ha instalado correctamente accediendo a una sede electrónica de prueba (por ejemplo, la propia sede de la FNMT) antes del día en que se necesita realizar un trámite con plazo límite.</a:t>
            </a:r>
            <a:endParaRPr lang="en-US" sz="1500" dirty="0"/>
          </a:p>
          <a:p>
            <a:pPr marL="342900" indent="-342900">
              <a:lnSpc>
                <a:spcPct val="108000"/>
              </a:lnSpc>
              <a:spcAft>
                <a:spcPts val="1000"/>
              </a:spcAft>
              <a:buSzPct val="100000"/>
              <a:buChar char="●"/>
            </a:pPr>
            <a:r>
              <a:rPr lang="en-US" sz="1500" dirty="0">
                <a:solidFill>
                  <a:srgbClr val="2A2E3A"/>
                </a:solidFill>
              </a:rPr>
              <a:t>Un certificado mal importado, caducado o instalado en el navegador equivocado es una de las incidencias más comunes al gestionar trámites online.</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10</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UT05 · Sección 10 de 12</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Firma digital de documentos PDF con Autofirma</a:t>
            </a:r>
            <a:endParaRPr lang="en-US" sz="3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FIRMA DIGITAL DE DOCUMENTOS PDF CON AUTOFIRMA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Firma digital de documentos PDF con Autofirma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Además de identificarse ante una sede electrónica, un certificado digital permite firmar documentos electrónicamente, con la misma validez legal que una firma manuscrita.</a:t>
            </a:r>
            <a:endParaRPr lang="en-US" sz="1500" dirty="0"/>
          </a:p>
          <a:p>
            <a:pPr marL="342900" indent="-342900">
              <a:lnSpc>
                <a:spcPct val="108000"/>
              </a:lnSpc>
              <a:spcAft>
                <a:spcPts val="1200"/>
              </a:spcAft>
              <a:buSzPct val="100000"/>
              <a:buChar char="●"/>
            </a:pPr>
            <a:r>
              <a:rPr lang="en-US" sz="1500" dirty="0">
                <a:solidFill>
                  <a:srgbClr val="2A2E3A"/>
                </a:solidFill>
              </a:rPr>
              <a:t>Existen dos vías habituales:</a:t>
            </a:r>
            <a:endParaRPr lang="en-US" sz="1500" dirty="0"/>
          </a:p>
          <a:p>
            <a:pPr marL="342900" indent="-342900">
              <a:lnSpc>
                <a:spcPct val="108000"/>
              </a:lnSpc>
              <a:spcAft>
                <a:spcPts val="1200"/>
              </a:spcAft>
              <a:buSzPct val="100000"/>
              <a:buChar char="●"/>
            </a:pPr>
            <a:r>
              <a:rPr lang="en-US" sz="1500" b="1" dirty="0">
                <a:solidFill>
                  <a:srgbClr val="1E2761"/>
                </a:solidFill>
              </a:rPr>
              <a:t>Lectores de PDF con función de firma: </a:t>
            </a:r>
            <a:pPr indent="0" marL="0">
              <a:lnSpc>
                <a:spcPct val="108000"/>
              </a:lnSpc>
              <a:spcAft>
                <a:spcPts val="1200"/>
              </a:spcAft>
              <a:buNone/>
            </a:pPr>
            <a:r>
              <a:rPr lang="en-US" sz="1500" dirty="0">
                <a:solidFill>
                  <a:srgbClr val="2A2E3A"/>
                </a:solidFill>
              </a:rPr>
              <a:t>muchos lectores de PDF incluyen una sección de "certificados" que permite firmar y validar firmas existentes en el propio documento.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FIRMA DIGITAL DE DOCUMENTOS PDF CON AUTOFIRMA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Firma digital de documentos PDF con Autofirma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Autofirma: </a:t>
            </a:r>
            <a:pPr indent="0" marL="0">
              <a:lnSpc>
                <a:spcPct val="108000"/>
              </a:lnSpc>
              <a:spcAft>
                <a:spcPts val="1200"/>
              </a:spcAft>
              <a:buNone/>
            </a:pPr>
            <a:r>
              <a:rPr lang="en-US" sz="1500" dirty="0">
                <a:solidFill>
                  <a:srgbClr val="2A2E3A"/>
                </a:solidFill>
              </a:rPr>
              <a:t>la herramienta oficial de referencia en España, desarrollada por el Ministerio de Hacienda y Administraciones Públicas, disponible de forma gratuita en https://firmaelectronica.gob.es/.</a:t>
            </a:r>
            <a:endParaRPr lang="en-US" sz="1500" dirty="0"/>
          </a:p>
          <a:p>
            <a:pPr marL="342900" indent="-342900">
              <a:lnSpc>
                <a:spcPct val="108000"/>
              </a:lnSpc>
              <a:spcAft>
                <a:spcPts val="1200"/>
              </a:spcAft>
              <a:buSzPct val="100000"/>
              <a:buChar char="●"/>
            </a:pPr>
            <a:r>
              <a:rPr lang="en-US" sz="1500" dirty="0">
                <a:solidFill>
                  <a:srgbClr val="2A2E3A"/>
                </a:solidFill>
              </a:rPr>
              <a:t>Autofirma permite realizar firma electrónica avanzada de documentos (PDF, entre otros formatos) basada en certificados digitales instalados en el equipo —ya sea un certificado FNMT, el certificado de firma del DNIe, u otro certificado reconocido—, con plena validez legal.</a:t>
            </a:r>
            <a:endParaRPr lang="en-US" sz="1500" dirty="0"/>
          </a:p>
          <a:p>
            <a:pPr marL="342900" indent="-342900">
              <a:lnSpc>
                <a:spcPct val="108000"/>
              </a:lnSpc>
              <a:spcAft>
                <a:spcPts val="1200"/>
              </a:spcAft>
              <a:buSzPct val="100000"/>
              <a:buChar char="●"/>
            </a:pPr>
            <a:r>
              <a:rPr lang="en-US" sz="1500" dirty="0">
                <a:solidFill>
                  <a:srgbClr val="2A2E3A"/>
                </a:solidFill>
              </a:rPr>
              <a:t>Su funcionamiento general consiste en: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FIRMA DIGITAL DE DOCUMENTOS PDF CON AUTOFIRMA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Firma digital de documentos PDF con Autofirma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Instalar la aplicación de escritorio Autofirma en el equipo.</a:t>
            </a:r>
            <a:endParaRPr lang="en-US" sz="1500" dirty="0"/>
          </a:p>
          <a:p>
            <a:pPr marL="342900" indent="-342900">
              <a:lnSpc>
                <a:spcPct val="108000"/>
              </a:lnSpc>
              <a:spcAft>
                <a:spcPts val="1200"/>
              </a:spcAft>
              <a:buSzPct val="100000"/>
              <a:buChar char="●"/>
            </a:pPr>
            <a:r>
              <a:rPr lang="en-US" sz="1500" dirty="0">
                <a:solidFill>
                  <a:srgbClr val="2A2E3A"/>
                </a:solidFill>
              </a:rPr>
              <a:t>Seleccionar el documento PDF (u otro formato admitido) que se desea firmar.</a:t>
            </a:r>
            <a:endParaRPr lang="en-US" sz="1500" dirty="0"/>
          </a:p>
          <a:p>
            <a:pPr marL="342900" indent="-342900">
              <a:lnSpc>
                <a:spcPct val="108000"/>
              </a:lnSpc>
              <a:spcAft>
                <a:spcPts val="1200"/>
              </a:spcAft>
              <a:buSzPct val="100000"/>
              <a:buChar char="●"/>
            </a:pPr>
            <a:r>
              <a:rPr lang="en-US" sz="1500" dirty="0">
                <a:solidFill>
                  <a:srgbClr val="2A2E3A"/>
                </a:solidFill>
              </a:rPr>
              <a:t>Elegir el certificado digital instalado con el que se quiere firmar.</a:t>
            </a:r>
            <a:endParaRPr lang="en-US" sz="1500" dirty="0"/>
          </a:p>
          <a:p>
            <a:pPr marL="342900" indent="-342900">
              <a:lnSpc>
                <a:spcPct val="108000"/>
              </a:lnSpc>
              <a:spcAft>
                <a:spcPts val="1200"/>
              </a:spcAft>
              <a:buSzPct val="100000"/>
              <a:buChar char="●"/>
            </a:pPr>
            <a:r>
              <a:rPr lang="en-US" sz="1500" dirty="0">
                <a:solidFill>
                  <a:srgbClr val="2A2E3A"/>
                </a:solidFill>
              </a:rPr>
              <a:t>Generar el documento firmado, que incorpora una firma electrónica verificable por cualquier tercero.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De la identidad a la firma: el recorrido completo del bloque</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El recorrido de este bloque forma, en la práctica, una única cadena: (1) una persona obtiene su DNIe o un certificado digital de la FNMT; (2) lo instala en su navegador o sistema; (3) lo utiliza para identificarse en una sede electrónica, o bien a través de Cl@ve si no dispone de certificado propio;</a:t>
            </a:r>
            <a:endParaRPr lang="en-US" sz="1500" dirty="0"/>
          </a:p>
          <a:p>
            <a:pPr marL="342900" indent="-342900">
              <a:lnSpc>
                <a:spcPct val="108000"/>
              </a:lnSpc>
              <a:spcAft>
                <a:spcPts val="1000"/>
              </a:spcAft>
              <a:buSzPct val="100000"/>
              <a:buChar char="●"/>
            </a:pPr>
            <a:r>
              <a:rPr lang="en-US" sz="1500" dirty="0">
                <a:solidFill>
                  <a:srgbClr val="2A2E3A"/>
                </a:solidFill>
              </a:rPr>
              <a:t>(4) cuando necesita comprometerse legalmente con un documento, lo firma con Autofirma o con el certificado de firma del DNIe.</a:t>
            </a:r>
            <a:endParaRPr lang="en-US" sz="1500" dirty="0"/>
          </a:p>
          <a:p>
            <a:pPr marL="342900" indent="-342900">
              <a:lnSpc>
                <a:spcPct val="108000"/>
              </a:lnSpc>
              <a:spcAft>
                <a:spcPts val="1000"/>
              </a:spcAft>
              <a:buSzPct val="100000"/>
              <a:buChar char="●"/>
            </a:pPr>
            <a:r>
              <a:rPr lang="en-US" sz="1500" dirty="0">
                <a:solidFill>
                  <a:srgbClr val="2A2E3A"/>
                </a:solidFill>
              </a:rPr>
              <a:t>Cada eslabón de esta cadena es, en sí mismo, una medida de protección de la identidad digital y, por extensión, de los datos que esa identidad controla.</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11</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UT05 · Sección 11 de 12</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Actividades</a:t>
            </a:r>
            <a:endParaRPr lang="en-US" sz="3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ACTIVIDADES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Actividades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Esta unidad se trabaja de forma práctica mediante el reto de aprendizaje basado en retos Identidad digital: certificados, Cl@ve y firma electrónica, donde el alumnado obtiene, instala y utiliza certificados digitales reales.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12</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UT05 · Sección 12 de 12</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Para profundizar</a:t>
            </a:r>
            <a:endParaRPr lang="en-US" sz="3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UT05 · PARA PROFUNDIZAR</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Para profundizar</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Sede electrónica de la FNMT, para la obtención, renovación y gestión de certificados digitales.</a:t>
            </a:r>
            <a:endParaRPr lang="en-US" sz="1500" dirty="0"/>
          </a:p>
          <a:p>
            <a:pPr marL="342900" indent="-342900">
              <a:lnSpc>
                <a:spcPct val="108000"/>
              </a:lnSpc>
              <a:spcAft>
                <a:spcPts val="1200"/>
              </a:spcAft>
              <a:buSzPct val="100000"/>
              <a:buChar char="●"/>
            </a:pPr>
            <a:r>
              <a:rPr lang="en-US" sz="1500" dirty="0">
                <a:solidFill>
                  <a:srgbClr val="2A2E3A"/>
                </a:solidFill>
              </a:rPr>
              <a:t>Autofirma, la aplicación oficial del Gobierno de España para la firma electrónica de documentos.</a:t>
            </a:r>
            <a:endParaRPr lang="en-US" sz="1500" dirty="0"/>
          </a:p>
          <a:p>
            <a:pPr marL="342900" indent="-342900">
              <a:lnSpc>
                <a:spcPct val="108000"/>
              </a:lnSpc>
              <a:spcAft>
                <a:spcPts val="1200"/>
              </a:spcAft>
              <a:buSzPct val="100000"/>
              <a:buChar char="●"/>
            </a:pPr>
            <a:r>
              <a:rPr lang="en-US" sz="1500" dirty="0">
                <a:solidFill>
                  <a:srgbClr val="2A2E3A"/>
                </a:solidFill>
              </a:rPr>
              <a:t>El resto de enlaces y recursos generales del módulo está en la página de Recursos.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UT05 · Digitalización aplicada a los sectores productivos</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3108960" y="1097280"/>
            <a:ext cx="2926080" cy="2926080"/>
          </a:xfrm>
          <a:prstGeom prst="ellipse">
            <a:avLst/>
          </a:prstGeom>
          <a:solidFill>
            <a:srgbClr val="CADCFC">
              <a:alpha val="12000"/>
            </a:srgbClr>
          </a:solidFill>
          <a:ln/>
        </p:spPr>
      </p:sp>
      <p:sp>
        <p:nvSpPr>
          <p:cNvPr id="3" name="Text 1"/>
          <p:cNvSpPr/>
          <p:nvPr/>
        </p:nvSpPr>
        <p:spPr>
          <a:xfrm>
            <a:off x="731520" y="1965960"/>
            <a:ext cx="7680960" cy="82296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Fin de la UT05</a:t>
            </a:r>
            <a:endParaRPr lang="en-US" sz="3200" dirty="0"/>
          </a:p>
        </p:txBody>
      </p:sp>
      <p:sp>
        <p:nvSpPr>
          <p:cNvPr id="4" name="Text 2"/>
          <p:cNvSpPr/>
          <p:nvPr/>
        </p:nvSpPr>
        <p:spPr>
          <a:xfrm>
            <a:off x="731520" y="2697480"/>
            <a:ext cx="7680960" cy="548640"/>
          </a:xfrm>
          <a:prstGeom prst="rect">
            <a:avLst/>
          </a:prstGeom>
          <a:noFill/>
          <a:ln/>
        </p:spPr>
        <p:txBody>
          <a:bodyPr wrap="square"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Datos, seguridad e identidad digital</a:t>
            </a:r>
            <a:endParaRPr lang="en-US" sz="1600" dirty="0"/>
          </a:p>
        </p:txBody>
      </p:sp>
      <p:sp>
        <p:nvSpPr>
          <p:cNvPr id="5" name="Text 3"/>
          <p:cNvSpPr/>
          <p:nvPr/>
        </p:nvSpPr>
        <p:spPr>
          <a:xfrm>
            <a:off x="731520" y="4320540"/>
            <a:ext cx="7680960" cy="36576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Apuntes completos disponibles en la documentación del módulo (MkDocs)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74</Slides>
  <Notes>74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74</vt:i4>
      </vt:variant>
    </vt:vector>
  </HeadingPairs>
  <TitlesOfParts>
    <vt:vector size="7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Datos, seguridad e identidad digital</dc:title>
  <dc:subject>PptxGenJS Presentation</dc:subject>
  <dc:creator>Yeray Moreno</dc:creator>
  <cp:lastModifiedBy>Yeray Moreno</cp:lastModifiedBy>
  <cp:revision>1</cp:revision>
  <dcterms:created xsi:type="dcterms:W3CDTF">2026-07-07T17:14:21Z</dcterms:created>
  <dcterms:modified xsi:type="dcterms:W3CDTF">2026-07-07T17:14:21Z</dcterms:modified>
</cp:coreProperties>
</file>