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64592"/>
            <a:ext cx="12191695" cy="822960"/>
          </a:xfrm>
          <a:prstGeom prst="rect">
            <a:avLst/>
          </a:prstGeom>
          <a:gradFill rotWithShape="1">
            <a:gsLst>
              <a:gs pos="0">
                <a:srgbClr val="8A4A1E"/>
              </a:gs>
              <a:gs pos="100000">
                <a:srgbClr val="F0B87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200" b="1" cap="all">
                <a:solidFill>
                  <a:srgbClr val="262626"/>
                </a:solidFill>
                <a:latin typeface="Arial"/>
              </a:rPr>
              <a:t>**🧠 LLM locales: monta y entrena tu propio modelo con el equipo del aula**</a:t>
            </a:r>
          </a:p>
        </p:txBody>
      </p:sp>
      <p:sp>
        <p:nvSpPr>
          <p:cNvPr id="3" name="Rectangle 2"/>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261872"/>
            <a:ext cx="6252804" cy="4901184"/>
          </a:xfrm>
          <a:prstGeom prst="rect">
            <a:avLst/>
          </a:prstGeom>
          <a:noFill/>
        </p:spPr>
        <p:txBody>
          <a:bodyPr wrap="square">
            <a:spAutoFit/>
          </a:bodyPr>
          <a:lstStyle/>
          <a:p>
            <a:pPr>
              <a:spcAft>
                <a:spcPts val="1000"/>
              </a:spcAft>
            </a:pPr>
            <a:r>
              <a:rPr b="1" sz="2000">
                <a:solidFill>
                  <a:srgbClr val="B85F1F"/>
                </a:solidFill>
                <a:latin typeface="Times New Roman"/>
              </a:rPr>
              <a:t>1.  </a:t>
            </a:r>
            <a:r>
              <a:rPr b="1" u="sng" sz="2000">
                <a:solidFill>
                  <a:srgbClr val="B85F1F"/>
                </a:solidFill>
                <a:latin typeface="Times New Roman"/>
              </a:rPr>
              <a:t>**🧠 LLM locales: monta y entrena tu propio modelo con el equipo del aula**</a:t>
            </a:r>
          </a:p>
          <a:p>
            <a:pPr>
              <a:spcAft>
                <a:spcPts val="1000"/>
              </a:spcAft>
            </a:pPr>
            <a:r>
              <a:rPr b="1" sz="2000">
                <a:solidFill>
                  <a:srgbClr val="B85F1F"/>
                </a:solidFill>
                <a:latin typeface="Times New Roman"/>
              </a:rPr>
              <a:t>2.  </a:t>
            </a:r>
            <a:r>
              <a:rPr b="1" u="sng" sz="2000">
                <a:solidFill>
                  <a:srgbClr val="B85F1F"/>
                </a:solidFill>
                <a:latin typeface="Times New Roman"/>
              </a:rPr>
              <a:t>**🧠 LLM locales: monta y entrena tu propio modelo con el equipo del aula** (cont. 2)</a:t>
            </a:r>
          </a:p>
          <a:p>
            <a:pPr>
              <a:spcAft>
                <a:spcPts val="1000"/>
              </a:spcAft>
            </a:pPr>
            <a:r>
              <a:rPr b="1" sz="2000">
                <a:solidFill>
                  <a:srgbClr val="B85F1F"/>
                </a:solidFill>
                <a:latin typeface="Times New Roman"/>
              </a:rPr>
              <a:t>3.  </a:t>
            </a:r>
            <a:r>
              <a:rPr b="1" u="sng" sz="2000">
                <a:solidFill>
                  <a:srgbClr val="B85F1F"/>
                </a:solidFill>
                <a:latin typeface="Times New Roman"/>
              </a:rPr>
              <a:t>**🧠 LLM locales: monta y entrena tu propio modelo con el equipo del aula** (cont. 3)</a:t>
            </a:r>
          </a:p>
          <a:p>
            <a:pPr>
              <a:spcAft>
                <a:spcPts val="1000"/>
              </a:spcAft>
            </a:pPr>
            <a:r>
              <a:rPr b="1" sz="2000">
                <a:solidFill>
                  <a:srgbClr val="B85F1F"/>
                </a:solidFill>
                <a:latin typeface="Times New Roman"/>
              </a:rPr>
              <a:t>4.  </a:t>
            </a:r>
            <a:r>
              <a:rPr b="1" u="sng" sz="2000">
                <a:solidFill>
                  <a:srgbClr val="B85F1F"/>
                </a:solidFill>
                <a:latin typeface="Times New Roman"/>
              </a:rPr>
              <a:t>1. Conceptos clave antes de empezar</a:t>
            </a:r>
          </a:p>
          <a:p>
            <a:pPr>
              <a:spcAft>
                <a:spcPts val="1000"/>
              </a:spcAft>
            </a:pPr>
            <a:r>
              <a:rPr b="1" sz="2000">
                <a:solidFill>
                  <a:srgbClr val="B85F1F"/>
                </a:solidFill>
                <a:latin typeface="Times New Roman"/>
              </a:rPr>
              <a:t>5.  </a:t>
            </a:r>
            <a:r>
              <a:rPr b="1" u="sng" sz="2000">
                <a:solidFill>
                  <a:srgbClr val="B85F1F"/>
                </a:solidFill>
                <a:latin typeface="Times New Roman"/>
              </a:rPr>
              <a:t>1. Conceptos clave antes de empezar (cont. 2)</a:t>
            </a:r>
          </a:p>
          <a:p>
            <a:pPr>
              <a:spcAft>
                <a:spcPts val="1000"/>
              </a:spcAft>
            </a:pPr>
            <a:r>
              <a:rPr b="1" sz="2000">
                <a:solidFill>
                  <a:srgbClr val="B85F1F"/>
                </a:solidFill>
                <a:latin typeface="Times New Roman"/>
              </a:rPr>
              <a:t>6.  </a:t>
            </a:r>
            <a:r>
              <a:rPr b="1" u="sng" sz="2000">
                <a:solidFill>
                  <a:srgbClr val="B85F1F"/>
                </a:solidFill>
                <a:latin typeface="Times New Roman"/>
              </a:rPr>
              <a:t>2. Qué hardware tiene realmente un equipo de instituto</a:t>
            </a:r>
          </a:p>
          <a:p>
            <a:pPr>
              <a:spcAft>
                <a:spcPts val="1000"/>
              </a:spcAft>
            </a:pPr>
            <a:r>
              <a:rPr b="1" sz="2000">
                <a:solidFill>
                  <a:srgbClr val="B85F1F"/>
                </a:solidFill>
                <a:latin typeface="Times New Roman"/>
              </a:rPr>
              <a:t>7.  </a:t>
            </a:r>
            <a:r>
              <a:rPr b="1" u="sng" sz="2000">
                <a:solidFill>
                  <a:srgbClr val="B85F1F"/>
                </a:solidFill>
                <a:latin typeface="Times New Roman"/>
              </a:rPr>
              <a:t>2. Qué hardware tiene realmente un equipo de instituto (cont. 2)</a:t>
            </a:r>
          </a:p>
          <a:p>
            <a:pPr>
              <a:spcAft>
                <a:spcPts val="1000"/>
              </a:spcAft>
            </a:pPr>
            <a:r>
              <a:rPr b="1" sz="2000">
                <a:solidFill>
                  <a:srgbClr val="B85F1F"/>
                </a:solidFill>
                <a:latin typeface="Times New Roman"/>
              </a:rPr>
              <a:t>8.  </a:t>
            </a:r>
            <a:r>
              <a:rPr b="1" u="sng" sz="2000">
                <a:solidFill>
                  <a:srgbClr val="B85F1F"/>
                </a:solidFill>
                <a:latin typeface="Times New Roman"/>
              </a:rPr>
              <a:t>2. Qué hardware tiene realmente un equipo de instituto (cont. 3)</a:t>
            </a:r>
          </a:p>
          <a:p>
            <a:pPr>
              <a:spcAft>
                <a:spcPts val="1000"/>
              </a:spcAft>
            </a:pPr>
            <a:r>
              <a:rPr b="1" sz="2000">
                <a:solidFill>
                  <a:srgbClr val="B85F1F"/>
                </a:solidFill>
                <a:latin typeface="Times New Roman"/>
              </a:rPr>
              <a:t>9.  </a:t>
            </a:r>
            <a:r>
              <a:rPr b="1" u="sng" sz="2000">
                <a:solidFill>
                  <a:srgbClr val="B85F1F"/>
                </a:solidFill>
                <a:latin typeface="Times New Roman"/>
              </a:rPr>
              <a:t>3. Elegir el modelo base adecuado</a:t>
            </a:r>
          </a:p>
          <a:p>
            <a:pPr>
              <a:spcAft>
                <a:spcPts val="1000"/>
              </a:spcAft>
            </a:pPr>
            <a:r>
              <a:rPr b="1" sz="2000">
                <a:solidFill>
                  <a:srgbClr val="B85F1F"/>
                </a:solidFill>
                <a:latin typeface="Times New Roman"/>
              </a:rPr>
              <a:t>10.  </a:t>
            </a:r>
            <a:r>
              <a:rPr b="1" u="sng" sz="2000">
                <a:solidFill>
                  <a:srgbClr val="B85F1F"/>
                </a:solidFill>
                <a:latin typeface="Times New Roman"/>
              </a:rPr>
              <a:t>3. Elegir el modelo base adecuado (cont. 2)</a:t>
            </a:r>
          </a:p>
          <a:p>
            <a:pPr>
              <a:spcAft>
                <a:spcPts val="1000"/>
              </a:spcAft>
            </a:pPr>
            <a:r>
              <a:rPr b="1" sz="2000">
                <a:solidFill>
                  <a:srgbClr val="B85F1F"/>
                </a:solidFill>
                <a:latin typeface="Times New Roman"/>
              </a:rPr>
              <a:t>11.  </a:t>
            </a:r>
            <a:r>
              <a:rPr b="1" u="sng" sz="2000">
                <a:solidFill>
                  <a:srgbClr val="B85F1F"/>
                </a:solidFill>
                <a:latin typeface="Times New Roman"/>
              </a:rPr>
              <a:t>3. Elegir el modelo base adecuado (cont. 3)</a:t>
            </a:r>
          </a:p>
          <a:p>
            <a:pPr>
              <a:spcAft>
                <a:spcPts val="1000"/>
              </a:spcAft>
            </a:pPr>
            <a:r>
              <a:rPr b="1" sz="2000">
                <a:solidFill>
                  <a:srgbClr val="B85F1F"/>
                </a:solidFill>
                <a:latin typeface="Times New Roman"/>
              </a:rPr>
              <a:t>12.  </a:t>
            </a:r>
            <a:r>
              <a:rPr b="1" u="sng" sz="2000">
                <a:solidFill>
                  <a:srgbClr val="B85F1F"/>
                </a:solidFill>
                <a:latin typeface="Times New Roman"/>
              </a:rPr>
              <a:t>3. Elegir el modelo base adecuado (cont. 4)</a:t>
            </a:r>
          </a:p>
          <a:p>
            <a:pPr>
              <a:spcAft>
                <a:spcPts val="1000"/>
              </a:spcAft>
            </a:pPr>
            <a:r>
              <a:rPr b="1" sz="2000">
                <a:solidFill>
                  <a:srgbClr val="B85F1F"/>
                </a:solidFill>
                <a:latin typeface="Times New Roman"/>
              </a:rPr>
              <a:t>13.  </a:t>
            </a:r>
            <a:r>
              <a:rPr b="1" u="sng" sz="2000">
                <a:solidFill>
                  <a:srgbClr val="B85F1F"/>
                </a:solidFill>
                <a:latin typeface="Times New Roman"/>
              </a:rPr>
              <a:t>3. Elegir el modelo base adecuado (cont. 5)</a:t>
            </a:r>
          </a:p>
          <a:p>
            <a:pPr>
              <a:spcAft>
                <a:spcPts val="1000"/>
              </a:spcAft>
            </a:pPr>
            <a:r>
              <a:rPr b="1" sz="2000">
                <a:solidFill>
                  <a:srgbClr val="B85F1F"/>
                </a:solidFill>
                <a:latin typeface="Times New Roman"/>
              </a:rPr>
              <a:t>14.  </a:t>
            </a:r>
            <a:r>
              <a:rPr b="1" u="sng" sz="2000">
                <a:solidFill>
                  <a:srgbClr val="B85F1F"/>
                </a:solidFill>
                <a:latin typeface="Times New Roman"/>
              </a:rPr>
              <a:t>3. Elegir el modelo base adecuado (cont. 6)</a:t>
            </a:r>
          </a:p>
          <a:p>
            <a:pPr>
              <a:spcAft>
                <a:spcPts val="1000"/>
              </a:spcAft>
            </a:pPr>
            <a:r>
              <a:rPr b="1" sz="2000">
                <a:solidFill>
                  <a:srgbClr val="B85F1F"/>
                </a:solidFill>
                <a:latin typeface="Times New Roman"/>
              </a:rPr>
              <a:t>15.  </a:t>
            </a:r>
            <a:r>
              <a:rPr b="1" u="sng" sz="2000">
                <a:solidFill>
                  <a:srgbClr val="B85F1F"/>
                </a:solidFill>
                <a:latin typeface="Times New Roman"/>
              </a:rPr>
              <a:t>3. Elegir el modelo base adecuado (cont. 7)</a:t>
            </a:r>
          </a:p>
          <a:p>
            <a:pPr>
              <a:spcAft>
                <a:spcPts val="1000"/>
              </a:spcAft>
            </a:pPr>
            <a:r>
              <a:rPr b="1" sz="2000">
                <a:solidFill>
                  <a:srgbClr val="B85F1F"/>
                </a:solidFill>
                <a:latin typeface="Times New Roman"/>
              </a:rPr>
              <a:t>16.  </a:t>
            </a:r>
            <a:r>
              <a:rPr b="1" u="sng" sz="2000">
                <a:solidFill>
                  <a:srgbClr val="B85F1F"/>
                </a:solidFill>
                <a:latin typeface="Times New Roman"/>
              </a:rPr>
              <a:t>3. Elegir el modelo base adecuado (cont. 8)</a:t>
            </a:r>
          </a:p>
          <a:p>
            <a:pPr>
              <a:spcAft>
                <a:spcPts val="1000"/>
              </a:spcAft>
            </a:pPr>
            <a:r>
              <a:rPr b="1" sz="2000">
                <a:solidFill>
                  <a:srgbClr val="B85F1F"/>
                </a:solidFill>
                <a:latin typeface="Times New Roman"/>
              </a:rPr>
              <a:t>17.  </a:t>
            </a:r>
            <a:r>
              <a:rPr b="1" u="sng" sz="2000">
                <a:solidFill>
                  <a:srgbClr val="B85F1F"/>
                </a:solidFill>
                <a:latin typeface="Times New Roman"/>
              </a:rPr>
              <a:t>4. Poner en marcha un modelo local: Ollama, LM Studio y llama.cpp</a:t>
            </a:r>
          </a:p>
          <a:p>
            <a:pPr>
              <a:spcAft>
                <a:spcPts val="1000"/>
              </a:spcAft>
            </a:pPr>
            <a:r>
              <a:rPr b="1" sz="2000">
                <a:solidFill>
                  <a:srgbClr val="B85F1F"/>
                </a:solidFill>
                <a:latin typeface="Times New Roman"/>
              </a:rPr>
              <a:t>18.  </a:t>
            </a:r>
            <a:r>
              <a:rPr b="1" u="sng" sz="2000">
                <a:solidFill>
                  <a:srgbClr val="B85F1F"/>
                </a:solidFill>
                <a:latin typeface="Times New Roman"/>
              </a:rPr>
              <a:t>4. Poner en marcha un modelo local: Ollama, LM Studio y llama.cpp (cont. 2)</a:t>
            </a:r>
          </a:p>
          <a:p>
            <a:pPr>
              <a:spcAft>
                <a:spcPts val="1000"/>
              </a:spcAft>
            </a:pPr>
            <a:r>
              <a:rPr b="1" sz="2000">
                <a:solidFill>
                  <a:srgbClr val="B85F1F"/>
                </a:solidFill>
                <a:latin typeface="Times New Roman"/>
              </a:rPr>
              <a:t>19.  </a:t>
            </a:r>
            <a:r>
              <a:rPr b="1" u="sng" sz="2000">
                <a:solidFill>
                  <a:srgbClr val="B85F1F"/>
                </a:solidFill>
                <a:latin typeface="Times New Roman"/>
              </a:rPr>
              <a:t>4. Poner en marcha un modelo local: Ollama, LM Studio y llama.cpp (cont. 3)</a:t>
            </a:r>
          </a:p>
          <a:p>
            <a:pPr>
              <a:spcAft>
                <a:spcPts val="1000"/>
              </a:spcAft>
            </a:pPr>
            <a:r>
              <a:rPr b="1" sz="2000">
                <a:solidFill>
                  <a:srgbClr val="B85F1F"/>
                </a:solidFill>
                <a:latin typeface="Times New Roman"/>
              </a:rPr>
              <a:t>20.  </a:t>
            </a:r>
            <a:r>
              <a:rPr b="1" u="sng" sz="2000">
                <a:solidFill>
                  <a:srgbClr val="B85F1F"/>
                </a:solidFill>
                <a:latin typeface="Times New Roman"/>
              </a:rPr>
              <a:t>5. Preparar un dataset propio con tus apuntes</a:t>
            </a:r>
          </a:p>
          <a:p>
            <a:pPr>
              <a:spcAft>
                <a:spcPts val="1000"/>
              </a:spcAft>
            </a:pPr>
            <a:r>
              <a:rPr b="1" sz="2000">
                <a:solidFill>
                  <a:srgbClr val="B85F1F"/>
                </a:solidFill>
                <a:latin typeface="Times New Roman"/>
              </a:rPr>
              <a:t>21.  </a:t>
            </a:r>
            <a:r>
              <a:rPr b="1" u="sng" sz="2000">
                <a:solidFill>
                  <a:srgbClr val="B85F1F"/>
                </a:solidFill>
                <a:latin typeface="Times New Roman"/>
              </a:rPr>
              <a:t>5. Preparar un dataset propio con tus apuntes (cont. 2)</a:t>
            </a:r>
          </a:p>
          <a:p>
            <a:pPr>
              <a:spcAft>
                <a:spcPts val="1000"/>
              </a:spcAft>
            </a:pPr>
            <a:r>
              <a:rPr b="1" sz="2000">
                <a:solidFill>
                  <a:srgbClr val="B85F1F"/>
                </a:solidFill>
                <a:latin typeface="Times New Roman"/>
              </a:rPr>
              <a:t>22.  </a:t>
            </a:r>
            <a:r>
              <a:rPr b="1" u="sng" sz="2000">
                <a:solidFill>
                  <a:srgbClr val="B85F1F"/>
                </a:solidFill>
                <a:latin typeface="Times New Roman"/>
              </a:rPr>
              <a:t>5. Preparar un dataset propio con tus apuntes (cont. 3)</a:t>
            </a:r>
          </a:p>
          <a:p>
            <a:pPr>
              <a:spcAft>
                <a:spcPts val="1000"/>
              </a:spcAft>
            </a:pPr>
            <a:r>
              <a:rPr b="1" sz="2000">
                <a:solidFill>
                  <a:srgbClr val="B85F1F"/>
                </a:solidFill>
                <a:latin typeface="Times New Roman"/>
              </a:rPr>
              <a:t>23.  </a:t>
            </a:r>
            <a:r>
              <a:rPr b="1" u="sng" sz="2000">
                <a:solidFill>
                  <a:srgbClr val="B85F1F"/>
                </a:solidFill>
                <a:latin typeface="Times New Roman"/>
              </a:rPr>
              <a:t>6. Ajustar el modelo con LoRA y QLoRA</a:t>
            </a:r>
          </a:p>
          <a:p>
            <a:pPr>
              <a:spcAft>
                <a:spcPts val="1000"/>
              </a:spcAft>
            </a:pPr>
            <a:r>
              <a:rPr b="1" sz="2000">
                <a:solidFill>
                  <a:srgbClr val="B85F1F"/>
                </a:solidFill>
                <a:latin typeface="Times New Roman"/>
              </a:rPr>
              <a:t>24.  </a:t>
            </a:r>
            <a:r>
              <a:rPr b="1" u="sng" sz="2000">
                <a:solidFill>
                  <a:srgbClr val="B85F1F"/>
                </a:solidFill>
                <a:latin typeface="Times New Roman"/>
              </a:rPr>
              <a:t>7. Caso práctico: del apunte al modelo ajustado en el aula</a:t>
            </a:r>
          </a:p>
          <a:p>
            <a:pPr>
              <a:spcAft>
                <a:spcPts val="1000"/>
              </a:spcAft>
            </a:pPr>
            <a:r>
              <a:rPr b="1" sz="2000">
                <a:solidFill>
                  <a:srgbClr val="B85F1F"/>
                </a:solidFill>
                <a:latin typeface="Times New Roman"/>
              </a:rPr>
              <a:t>25.  </a:t>
            </a:r>
            <a:r>
              <a:rPr b="1" u="sng" sz="2000">
                <a:solidFill>
                  <a:srgbClr val="B85F1F"/>
                </a:solidFill>
                <a:latin typeface="Times New Roman"/>
              </a:rPr>
              <a:t>7. Caso práctico: del apunte al modelo ajustado en el aula (cont. 2)</a:t>
            </a:r>
          </a:p>
          <a:p>
            <a:pPr>
              <a:spcAft>
                <a:spcPts val="1000"/>
              </a:spcAft>
            </a:pPr>
            <a:r>
              <a:rPr b="1" sz="2000">
                <a:solidFill>
                  <a:srgbClr val="B85F1F"/>
                </a:solidFill>
                <a:latin typeface="Times New Roman"/>
              </a:rPr>
              <a:t>26.  </a:t>
            </a:r>
            <a:r>
              <a:rPr b="1" u="sng" sz="2000">
                <a:solidFill>
                  <a:srgbClr val="B85F1F"/>
                </a:solidFill>
                <a:latin typeface="Times New Roman"/>
              </a:rPr>
              <a:t>7. Caso práctico: del apunte al modelo ajustado en el aula (cont. 3)</a:t>
            </a:r>
          </a:p>
          <a:p>
            <a:pPr>
              <a:spcAft>
                <a:spcPts val="1000"/>
              </a:spcAft>
            </a:pPr>
            <a:r>
              <a:rPr b="1" sz="2000">
                <a:solidFill>
                  <a:srgbClr val="B85F1F"/>
                </a:solidFill>
                <a:latin typeface="Times New Roman"/>
              </a:rPr>
              <a:t>27.  </a:t>
            </a:r>
            <a:r>
              <a:rPr b="1" u="sng" sz="2000">
                <a:solidFill>
                  <a:srgbClr val="B85F1F"/>
                </a:solidFill>
                <a:latin typeface="Times New Roman"/>
              </a:rPr>
              <a:t>7. Caso práctico: del apunte al modelo ajustado en el aula (cont. 4)</a:t>
            </a:r>
          </a:p>
          <a:p>
            <a:pPr>
              <a:spcAft>
                <a:spcPts val="1000"/>
              </a:spcAft>
            </a:pPr>
            <a:r>
              <a:rPr b="1" sz="2000">
                <a:solidFill>
                  <a:srgbClr val="B85F1F"/>
                </a:solidFill>
                <a:latin typeface="Times New Roman"/>
              </a:rPr>
              <a:t>28.  </a:t>
            </a:r>
            <a:r>
              <a:rPr b="1" u="sng" sz="2000">
                <a:solidFill>
                  <a:srgbClr val="B85F1F"/>
                </a:solidFill>
                <a:latin typeface="Times New Roman"/>
              </a:rPr>
              <a:t>8. Buenas prácticas y límites que conviene conocer</a:t>
            </a:r>
          </a:p>
          <a:p>
            <a:pPr>
              <a:spcAft>
                <a:spcPts val="1000"/>
              </a:spcAft>
            </a:pPr>
            <a:r>
              <a:rPr b="1" sz="2000">
                <a:solidFill>
                  <a:srgbClr val="B85F1F"/>
                </a:solidFill>
                <a:latin typeface="Times New Roman"/>
              </a:rPr>
              <a:t>29.  </a:t>
            </a:r>
            <a:r>
              <a:rPr b="1" u="sng" sz="2000">
                <a:solidFill>
                  <a:srgbClr val="B85F1F"/>
                </a:solidFill>
                <a:latin typeface="Times New Roman"/>
              </a:rPr>
              <a:t>9. Glosario rápido</a:t>
            </a:r>
          </a:p>
          <a:p>
            <a:pPr>
              <a:spcAft>
                <a:spcPts val="1000"/>
              </a:spcAft>
            </a:pPr>
            <a:r>
              <a:rPr b="1" sz="2000">
                <a:solidFill>
                  <a:srgbClr val="B85F1F"/>
                </a:solidFill>
                <a:latin typeface="Times New Roman"/>
              </a:rPr>
              <a:t>30.  </a:t>
            </a:r>
            <a:r>
              <a:rPr b="1" u="sng" sz="2000">
                <a:solidFill>
                  <a:srgbClr val="B85F1F"/>
                </a:solidFill>
                <a:latin typeface="Times New Roman"/>
              </a:rPr>
              <a:t>9. Glosario rápido (cont. 2)</a:t>
            </a:r>
          </a:p>
          <a:p>
            <a:pPr>
              <a:spcAft>
                <a:spcPts val="1000"/>
              </a:spcAft>
            </a:pPr>
            <a:r>
              <a:rPr b="1" sz="2000">
                <a:solidFill>
                  <a:srgbClr val="B85F1F"/>
                </a:solidFill>
                <a:latin typeface="Times New Roman"/>
              </a:rPr>
              <a:t>31.  </a:t>
            </a:r>
            <a:r>
              <a:rPr b="1" u="sng" sz="2000">
                <a:solidFill>
                  <a:srgbClr val="B85F1F"/>
                </a:solidFill>
                <a:latin typeface="Times New Roman"/>
              </a:rPr>
              <a:t>9. Glosario rápido (cont. 3)</a:t>
            </a:r>
          </a:p>
          <a:p>
            <a:pPr>
              <a:spcAft>
                <a:spcPts val="1000"/>
              </a:spcAft>
            </a:pPr>
            <a:r>
              <a:rPr b="1" sz="2000">
                <a:solidFill>
                  <a:srgbClr val="B85F1F"/>
                </a:solidFill>
                <a:latin typeface="Times New Roman"/>
              </a:rPr>
              <a:t>32.  </a:t>
            </a:r>
            <a:r>
              <a:rPr b="1" u="sng" sz="2000">
                <a:solidFill>
                  <a:srgbClr val="B85F1F"/>
                </a:solidFill>
                <a:latin typeface="Times New Roman"/>
              </a:rPr>
              <a:t>9. Glosario rápido (cont. 4)</a:t>
            </a:r>
          </a:p>
        </p:txBody>
      </p:sp>
      <p:pic>
        <p:nvPicPr>
          <p:cNvPr id="6" name="Picture 5" descr="flujo-entrenamiento-llm-local.png"/>
          <p:cNvPicPr>
            <a:picLocks noChangeAspect="1"/>
          </p:cNvPicPr>
          <p:nvPr/>
        </p:nvPicPr>
        <p:blipFill>
          <a:blip r:embed="rId2"/>
          <a:stretch>
            <a:fillRect/>
          </a:stretch>
        </p:blipFill>
        <p:spPr>
          <a:xfrm>
            <a:off x="7005346" y="2948484"/>
            <a:ext cx="4774868" cy="152795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 LLM locales: monta y entrena tu propio modelo con el equipo del aula**</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635633"/>
          </a:xfrm>
          <a:prstGeom prst="rect">
            <a:avLst/>
          </a:prstGeom>
          <a:noFill/>
        </p:spPr>
        <p:txBody>
          <a:bodyPr wrap="square">
            <a:spAutoFit/>
          </a:bodyPr>
          <a:lstStyle/>
          <a:p>
            <a:pPr algn="l">
              <a:spcAft>
                <a:spcPts val="800"/>
              </a:spcAft>
            </a:pPr>
            <a:r>
              <a:rPr sz="1800" b="0">
                <a:solidFill>
                  <a:srgbClr val="262626"/>
                </a:solidFill>
                <a:latin typeface="Times New Roman"/>
              </a:rPr>
              <a:t>La página [Impacto de la IA en sistemas](impacto-ia-sistemas.md) de esta misma sección deja claro que esa unidad </a:t>
            </a:r>
            <a:r>
              <a:rPr sz="1800" b="1">
                <a:solidFill>
                  <a:srgbClr val="262626"/>
                </a:solidFill>
                <a:latin typeface="Times New Roman"/>
              </a:rPr>
              <a:t>no</a:t>
            </a:r>
            <a:r>
              <a:rPr sz="1800" b="0">
                <a:solidFill>
                  <a:srgbClr val="262626"/>
                </a:solidFill>
                <a:latin typeface="Times New Roman"/>
              </a:rPr>
              <a:t> enseña a entrenar modelos de IA. Esta página existe precisamente para cubrir ese hueco desde un enfoque práctico: que el alumnado monte, ejecute y ajuste su propio modelo de lenguaje usando el hardware real de un aula de instituto, sin depender de servicios de pago ni de una GPU de gama alta.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 LLM locales: monta y entrena tu propio modelo con el equipo del aula**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01193"/>
          </a:xfrm>
          <a:prstGeom prst="rect">
            <a:avLst/>
          </a:prstGeom>
          <a:noFill/>
        </p:spPr>
        <p:txBody>
          <a:bodyPr wrap="square">
            <a:spAutoFit/>
          </a:bodyPr>
          <a:lstStyle/>
          <a:p>
            <a:pPr algn="l">
              <a:spcAft>
                <a:spcPts val="800"/>
              </a:spcAft>
            </a:pPr>
            <a:r>
              <a:rPr sz="1800" b="0">
                <a:solidFill>
                  <a:srgbClr val="262626"/>
                </a:solidFill>
                <a:latin typeface="Times New Roman"/>
              </a:rPr>
              <a:t>!!! note "Qué vas a conseguir con esta guía"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 LLM locales: monta y entrena tu propio modelo con el equipo del aula**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327023"/>
          </a:xfrm>
          <a:prstGeom prst="rect">
            <a:avLst/>
          </a:prstGeom>
          <a:noFill/>
        </p:spPr>
        <p:txBody>
          <a:bodyPr wrap="square">
            <a:spAutoFit/>
          </a:bodyPr>
          <a:lstStyle/>
          <a:p>
            <a:pPr algn="l">
              <a:spcAft>
                <a:spcPts val="800"/>
              </a:spcAft>
            </a:pPr>
            <a:r>
              <a:rPr sz="1800" b="0">
                <a:solidFill>
                  <a:srgbClr val="262626"/>
                </a:solidFill>
                <a:latin typeface="Times New Roman"/>
              </a:rPr>
              <a:t>Ejecutar un modelo pequeño en local y sin conexión permanente a internet, entender qué es la cuantización y por qué la necesitas, preparar un dataset propio a partir de tus apuntes, y ajustar (*fine-tuning*) ese modelo con LoRA o QLoRA sabiendo en qué punto el equipo del aula se queda corto y conviene apoyarse en una GPU gratuita en la nube.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 Conceptos clave antes de empezar</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944243"/>
          </a:xfrm>
          <a:prstGeom prst="rect">
            <a:avLst/>
          </a:prstGeom>
          <a:noFill/>
        </p:spPr>
        <p:txBody>
          <a:bodyPr wrap="square">
            <a:spAutoFit/>
          </a:bodyPr>
          <a:lstStyle/>
          <a:p>
            <a:pPr algn="l">
              <a:spcAft>
                <a:spcPts val="800"/>
              </a:spcAft>
            </a:pPr>
            <a:r>
              <a:rPr sz="1800" b="0">
                <a:solidFill>
                  <a:srgbClr val="262626"/>
                </a:solidFill>
                <a:latin typeface="Times New Roman"/>
              </a:rPr>
              <a:t>Un LLM no se "programa": se </a:t>
            </a:r>
            <a:r>
              <a:rPr sz="1800" b="1">
                <a:solidFill>
                  <a:srgbClr val="262626"/>
                </a:solidFill>
                <a:latin typeface="Times New Roman"/>
              </a:rPr>
              <a:t>entrena</a:t>
            </a:r>
            <a:r>
              <a:rPr sz="1800" b="0">
                <a:solidFill>
                  <a:srgbClr val="262626"/>
                </a:solidFill>
                <a:latin typeface="Times New Roman"/>
              </a:rPr>
              <a:t> desde cero sobre enormes cantidades de texto (preentrenamiento), algo que solo hacen laboratorios con miles de GPU. Lo que un centro educativo puede hacer, y es exactamente lo que persigue esta guía, es coger un modelo ya entrenado y </a:t>
            </a:r>
            <a:r>
              <a:rPr sz="1800" b="1">
                <a:solidFill>
                  <a:srgbClr val="262626"/>
                </a:solidFill>
                <a:latin typeface="Times New Roman"/>
              </a:rPr>
              <a:t>abierto</a:t>
            </a:r>
            <a:r>
              <a:rPr sz="1800" b="0">
                <a:solidFill>
                  <a:srgbClr val="262626"/>
                </a:solidFill>
                <a:latin typeface="Times New Roman"/>
              </a:rPr>
              <a:t> (sus pesos son descargables) y adaptarlo a un caso de uso concreto mediante *fine-tuning*: enseñarle a responder con un estilo determinado o sobre un dominio concreto, en lugar de enseñarle idioma desde cero.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1. Conceptos clave antes de empezar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635633"/>
          </a:xfrm>
          <a:prstGeom prst="rect">
            <a:avLst/>
          </a:prstGeom>
          <a:noFill/>
        </p:spPr>
        <p:txBody>
          <a:bodyPr wrap="square">
            <a:spAutoFit/>
          </a:bodyPr>
          <a:lstStyle/>
          <a:p>
            <a:pPr algn="l">
              <a:spcAft>
                <a:spcPts val="800"/>
              </a:spcAft>
            </a:pPr>
            <a:r>
              <a:rPr sz="1800" b="0">
                <a:solidFill>
                  <a:srgbClr val="262626"/>
                </a:solidFill>
                <a:latin typeface="Times New Roman"/>
              </a:rPr>
              <a:t>Para que ese modelo quepa y funcione en un equipo modesto hace falta además </a:t>
            </a:r>
            <a:r>
              <a:rPr sz="1800" b="1">
                <a:solidFill>
                  <a:srgbClr val="262626"/>
                </a:solidFill>
                <a:latin typeface="Times New Roman"/>
              </a:rPr>
              <a:t>cuantizar</a:t>
            </a:r>
            <a:r>
              <a:rPr sz="1800" b="0">
                <a:solidFill>
                  <a:srgbClr val="262626"/>
                </a:solidFill>
                <a:latin typeface="Times New Roman"/>
              </a:rPr>
              <a:t> los pesos: reducir la precisión numérica con la que se almacena cada parámetro (de 16 bits a 4 bits, por ejemplo). Un modelo cuantizado a 4 bits ocupa aproximadamente una cuarta parte de su tamaño original y pierde muy poca calidad de respuesta, lo que lo hace viable en un PC sin GPU dedicada.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2. Qué hardware tiene realmente un equipo de instituto</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6252804" cy="3795903"/>
          </a:xfrm>
          <a:prstGeom prst="rect">
            <a:avLst/>
          </a:prstGeom>
          <a:noFill/>
        </p:spPr>
        <p:txBody>
          <a:bodyPr wrap="square">
            <a:spAutoFit/>
          </a:bodyPr>
          <a:lstStyle/>
          <a:p>
            <a:pPr algn="l">
              <a:spcAft>
                <a:spcPts val="800"/>
              </a:spcAft>
            </a:pPr>
            <a:r>
              <a:rPr sz="1800" b="0">
                <a:solidFill>
                  <a:srgbClr val="262626"/>
                </a:solidFill>
                <a:latin typeface="Times New Roman"/>
              </a:rPr>
              <a:t>Un PC típico de aula tiene CPU sin GPU dedicada, entre 8 y 16 GB de RAM y almacenamiento SSD modesto. Con ese perfil, la </a:t>
            </a:r>
            <a:r>
              <a:rPr sz="1800" b="1">
                <a:solidFill>
                  <a:srgbClr val="262626"/>
                </a:solidFill>
                <a:latin typeface="Times New Roman"/>
              </a:rPr>
              <a:t>inferencia</a:t>
            </a:r>
            <a:r>
              <a:rPr sz="1800" b="0">
                <a:solidFill>
                  <a:srgbClr val="262626"/>
                </a:solidFill>
                <a:latin typeface="Times New Roman"/>
              </a:rPr>
              <a:t> (usar el modelo ya entrenado para generar respuestas) de modelos cuantizados de 1 a 3 mil millones de parámetros es perfectamente viable y razonablemente rápida. El </a:t>
            </a:r>
            <a:r>
              <a:rPr sz="1800" b="1">
                <a:solidFill>
                  <a:srgbClr val="262626"/>
                </a:solidFill>
                <a:latin typeface="Times New Roman"/>
              </a:rPr>
              <a:t>ajuste fino</a:t>
            </a:r>
            <a:r>
              <a:rPr sz="1800" b="0">
                <a:solidFill>
                  <a:srgbClr val="262626"/>
                </a:solidFill>
                <a:latin typeface="Times New Roman"/>
              </a:rPr>
              <a:t>, en cambio, es más exigente: entrenar aunque sea con LoRA requiere recalcular gradientes, y hacerlo solo con CPU es posible pero lento, adecuado como ejercicio didáctico con datasets pequeños, no para un resultado de calidad en poco tiempo.</a:t>
            </a:r>
          </a:p>
        </p:txBody>
      </p:sp>
      <p:pic>
        <p:nvPicPr>
          <p:cNvPr id="7" name="Picture 6" descr="requisitos-hardware-modelos.png"/>
          <p:cNvPicPr>
            <a:picLocks noChangeAspect="1"/>
          </p:cNvPicPr>
          <p:nvPr/>
        </p:nvPicPr>
        <p:blipFill>
          <a:blip r:embed="rId2"/>
          <a:stretch>
            <a:fillRect/>
          </a:stretch>
        </p:blipFill>
        <p:spPr>
          <a:xfrm>
            <a:off x="7005346" y="2823012"/>
            <a:ext cx="4774868" cy="162345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2. Qué hardware tiene realmente un equipo de instituto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01193"/>
          </a:xfrm>
          <a:prstGeom prst="rect">
            <a:avLst/>
          </a:prstGeom>
          <a:noFill/>
        </p:spPr>
        <p:txBody>
          <a:bodyPr wrap="square">
            <a:spAutoFit/>
          </a:bodyPr>
          <a:lstStyle/>
          <a:p>
            <a:pPr algn="l">
              <a:spcAft>
                <a:spcPts val="800"/>
              </a:spcAft>
            </a:pPr>
            <a:r>
              <a:rPr sz="1800" b="0">
                <a:solidFill>
                  <a:srgbClr val="262626"/>
                </a:solidFill>
                <a:latin typeface="Times New Roman"/>
              </a:rPr>
              <a:t>!!! tip "La combinación realista para un aula sin GPU"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2. Qué hardware tiene realmente un equipo de instituto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635633"/>
          </a:xfrm>
          <a:prstGeom prst="rect">
            <a:avLst/>
          </a:prstGeom>
          <a:noFill/>
        </p:spPr>
        <p:txBody>
          <a:bodyPr wrap="square">
            <a:spAutoFit/>
          </a:bodyPr>
          <a:lstStyle/>
          <a:p>
            <a:pPr algn="l">
              <a:spcAft>
                <a:spcPts val="800"/>
              </a:spcAft>
            </a:pPr>
            <a:r>
              <a:rPr sz="1800" b="0">
                <a:solidFill>
                  <a:srgbClr val="262626"/>
                </a:solidFill>
                <a:latin typeface="Times New Roman"/>
              </a:rPr>
              <a:t>Ejecutar el modelo en local (rápido, sin coste, sin conexión) y hacer el paso de ajuste fino en una GPU gratuita en la nube, como el nivel gratuito de Google Colab. El resultado del ajuste es un adaptador LoRA de pocos megabytes que se descarga y se fusiona con el modelo local: los datos de entrenamiento pasan por la nube durante el ajuste, así que conviene no subir nunca datos personales del alumnado, solo apuntes y materiales ya públicos.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Elegir el modelo base adecuado</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709803"/>
          </a:xfrm>
          <a:prstGeom prst="rect">
            <a:avLst/>
          </a:prstGeom>
          <a:noFill/>
        </p:spPr>
        <p:txBody>
          <a:bodyPr wrap="square">
            <a:spAutoFit/>
          </a:bodyPr>
          <a:lstStyle/>
          <a:p>
            <a:pPr algn="l">
              <a:spcAft>
                <a:spcPts val="800"/>
              </a:spcAft>
            </a:pPr>
            <a:r>
              <a:rPr sz="1800" b="0">
                <a:solidFill>
                  <a:srgbClr val="262626"/>
                </a:solidFill>
                <a:latin typeface="Times New Roman"/>
              </a:rPr>
              <a:t>No todos los modelos abiertos sirven igual para un equipo modesto. Para empezar en el aula, esta tabla resume las opciones más razonables: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Elegir el modelo base adecuado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01193"/>
          </a:xfrm>
          <a:prstGeom prst="rect">
            <a:avLst/>
          </a:prstGeom>
          <a:noFill/>
        </p:spPr>
        <p:txBody>
          <a:bodyPr wrap="square">
            <a:spAutoFit/>
          </a:bodyPr>
          <a:lstStyle/>
          <a:p>
            <a:pPr algn="l">
              <a:spcAft>
                <a:spcPts val="800"/>
              </a:spcAft>
            </a:pPr>
            <a:r>
              <a:rPr sz="1800" b="0">
                <a:solidFill>
                  <a:srgbClr val="262626"/>
                </a:solidFill>
                <a:latin typeface="Times New Roman"/>
              </a:rPr>
              <a:t>| Modelo | Parámetros | Tamaño cuantizado (4 bits) | Uso recomendado en el aula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Elegir el modelo base adecuado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01193"/>
          </a:xfrm>
          <a:prstGeom prst="rect">
            <a:avLst/>
          </a:prstGeom>
          <a:noFill/>
        </p:spPr>
        <p:txBody>
          <a:bodyPr wrap="square">
            <a:spAutoFit/>
          </a:bodyPr>
          <a:lstStyle/>
          <a:p>
            <a:pPr algn="l">
              <a:spcAft>
                <a:spcPts val="800"/>
              </a:spcAft>
            </a:pPr>
            <a:r>
              <a:rPr sz="1800" b="0">
                <a:solidFill>
                  <a:srgbClr val="262626"/>
                </a:solidFill>
                <a:latin typeface="Times New Roman"/>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Elegir el modelo base adecuado (cont. 4)</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01193"/>
          </a:xfrm>
          <a:prstGeom prst="rect">
            <a:avLst/>
          </a:prstGeom>
          <a:noFill/>
        </p:spPr>
        <p:txBody>
          <a:bodyPr wrap="square">
            <a:spAutoFit/>
          </a:bodyPr>
          <a:lstStyle/>
          <a:p>
            <a:pPr algn="l">
              <a:spcAft>
                <a:spcPts val="800"/>
              </a:spcAft>
            </a:pPr>
            <a:r>
              <a:rPr sz="1800" b="0">
                <a:solidFill>
                  <a:srgbClr val="262626"/>
                </a:solidFill>
                <a:latin typeface="Times New Roman"/>
              </a:rPr>
              <a:t>| Llama 3.2 1B | 1 000 M | ~0,7 GB | Chat básico, resumir textos cortos, primeras pruebas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Elegir el modelo base adecuado (cont. 5)</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01193"/>
          </a:xfrm>
          <a:prstGeom prst="rect">
            <a:avLst/>
          </a:prstGeom>
          <a:noFill/>
        </p:spPr>
        <p:txBody>
          <a:bodyPr wrap="square">
            <a:spAutoFit/>
          </a:bodyPr>
          <a:lstStyle/>
          <a:p>
            <a:pPr algn="l">
              <a:spcAft>
                <a:spcPts val="800"/>
              </a:spcAft>
            </a:pPr>
            <a:r>
              <a:rPr sz="1800" b="0">
                <a:solidFill>
                  <a:srgbClr val="262626"/>
                </a:solidFill>
                <a:latin typeface="Times New Roman"/>
              </a:rPr>
              <a:t>| Qwen2.5 3B | 3 000 M | ~2 GB | Seguir instrucciones, generar texto estructurado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Elegir el modelo base adecuado (cont. 6)</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01193"/>
          </a:xfrm>
          <a:prstGeom prst="rect">
            <a:avLst/>
          </a:prstGeom>
          <a:noFill/>
        </p:spPr>
        <p:txBody>
          <a:bodyPr wrap="square">
            <a:spAutoFit/>
          </a:bodyPr>
          <a:lstStyle/>
          <a:p>
            <a:pPr algn="l">
              <a:spcAft>
                <a:spcPts val="800"/>
              </a:spcAft>
            </a:pPr>
            <a:r>
              <a:rPr sz="1800" b="0">
                <a:solidFill>
                  <a:srgbClr val="262626"/>
                </a:solidFill>
                <a:latin typeface="Times New Roman"/>
              </a:rPr>
              <a:t>| Gemma 3 2B | 2 000 M | ~1,5 GB | Alternativa ligera y multilingüe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Elegir el modelo base adecuado (cont. 7)</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401193"/>
          </a:xfrm>
          <a:prstGeom prst="rect">
            <a:avLst/>
          </a:prstGeom>
          <a:noFill/>
        </p:spPr>
        <p:txBody>
          <a:bodyPr wrap="square">
            <a:spAutoFit/>
          </a:bodyPr>
          <a:lstStyle/>
          <a:p>
            <a:pPr algn="l">
              <a:spcAft>
                <a:spcPts val="800"/>
              </a:spcAft>
            </a:pPr>
            <a:r>
              <a:rPr sz="1800" b="0">
                <a:solidFill>
                  <a:srgbClr val="262626"/>
                </a:solidFill>
                <a:latin typeface="Times New Roman"/>
              </a:rPr>
              <a:t>| Phi-4-mini | 3 800 M | ~2,5 GB | Buen razonamiento y código sencillo pese al tamaño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3. Elegir el modelo base adecuado (cont. 8)</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709803"/>
          </a:xfrm>
          <a:prstGeom prst="rect">
            <a:avLst/>
          </a:prstGeom>
          <a:noFill/>
        </p:spPr>
        <p:txBody>
          <a:bodyPr wrap="square">
            <a:spAutoFit/>
          </a:bodyPr>
          <a:lstStyle/>
          <a:p>
            <a:pPr algn="l">
              <a:spcAft>
                <a:spcPts val="800"/>
              </a:spcAft>
            </a:pPr>
            <a:r>
              <a:rPr sz="1800" b="0">
                <a:solidFill>
                  <a:srgbClr val="262626"/>
                </a:solidFill>
                <a:latin typeface="Times New Roman"/>
              </a:rPr>
              <a:t>| Qwen2.5 7B / Llama 3.1 8B | 7-8 000 M | ~4,5-5 GB | Base habitual para *fine-tuning* con LoRA/QLoRA (mejor en GPU, aunque sea la gratuita de Colab)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4. Poner en marcha un modelo local: Ollama, LM Studio y llama.cpp</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709803"/>
          </a:xfrm>
          <a:prstGeom prst="rect">
            <a:avLst/>
          </a:prstGeom>
          <a:noFill/>
        </p:spPr>
        <p:txBody>
          <a:bodyPr wrap="square">
            <a:spAutoFit/>
          </a:bodyPr>
          <a:lstStyle/>
          <a:p>
            <a:pPr algn="l">
              <a:spcAft>
                <a:spcPts val="800"/>
              </a:spcAft>
            </a:pPr>
            <a:r>
              <a:rPr sz="1800" b="0">
                <a:solidFill>
                  <a:srgbClr val="262626"/>
                </a:solidFill>
                <a:latin typeface="Times New Roman"/>
              </a:rPr>
              <a:t>El camino más sencillo para un aula es </a:t>
            </a:r>
            <a:r>
              <a:rPr sz="1800" b="1">
                <a:solidFill>
                  <a:srgbClr val="262626"/>
                </a:solidFill>
                <a:latin typeface="Times New Roman"/>
              </a:rPr>
              <a:t>Ollama</a:t>
            </a:r>
            <a:r>
              <a:rPr sz="1800" b="0">
                <a:solidFill>
                  <a:srgbClr val="262626"/>
                </a:solidFill>
                <a:latin typeface="Times New Roman"/>
              </a:rPr>
              <a:t>: se instala en Windows, Linux o macOS, y con dos comandos se descarga y ejecuta un modelo ya cuantizado en formato GGUF: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4. Poner en marcha un modelo local: Ollama, LM Studio y llama.cpp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033271"/>
            <a:ext cx="11368735" cy="769619"/>
          </a:xfrm>
          <a:prstGeom prst="roundRect">
            <a:avLst>
              <a:gd name="adj" fmla="val 4000"/>
            </a:avLst>
          </a:prstGeom>
          <a:solidFill>
            <a:srgbClr val="F2F2F2"/>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r>
              <a:rPr sz="1300">
                <a:solidFill>
                  <a:srgbClr val="1F1F1F"/>
                </a:solidFill>
                <a:latin typeface="Consolas"/>
              </a:rPr>
              <a:t>ollama pull qwen2.5:3b</a:t>
            </a:r>
          </a:p>
          <a:p>
            <a:pPr algn="l"/>
            <a:r>
              <a:rPr sz="1300">
                <a:solidFill>
                  <a:srgbClr val="1F1F1F"/>
                </a:solidFill>
                <a:latin typeface="Consolas"/>
              </a:rPr>
              <a:t>ollama run qwen2.5:3b</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4. Poner en marcha un modelo local: Ollama, LM Studio y llama.cpp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2252853"/>
          </a:xfrm>
          <a:prstGeom prst="rect">
            <a:avLst/>
          </a:prstGeom>
          <a:noFill/>
        </p:spPr>
        <p:txBody>
          <a:bodyPr wrap="square">
            <a:spAutoFit/>
          </a:bodyPr>
          <a:lstStyle/>
          <a:p>
            <a:pPr algn="l">
              <a:spcAft>
                <a:spcPts val="800"/>
              </a:spcAft>
            </a:pPr>
            <a:r>
              <a:rPr sz="1800" b="0">
                <a:solidFill>
                  <a:srgbClr val="262626"/>
                </a:solidFill>
                <a:latin typeface="Times New Roman"/>
              </a:rPr>
              <a:t>Ollama expone además una API local compatible con la de los servicios de IA en la nube (</a:t>
            </a:r>
            <a:r>
              <a:rPr sz="1800" b="0">
                <a:solidFill>
                  <a:srgbClr val="262626"/>
                </a:solidFill>
                <a:latin typeface="Consolas"/>
              </a:rPr>
              <a:t>http://localhost:11434</a:t>
            </a:r>
            <a:r>
              <a:rPr sz="1800" b="0">
                <a:solidFill>
                  <a:srgbClr val="262626"/>
                </a:solidFill>
                <a:latin typeface="Times New Roman"/>
              </a:rPr>
              <a:t>), de modo que un script propio, un editor de código o un servidor MCP del aula pueden hablar con el modelo local exactamente igual que hablarían con un servicio externo. </a:t>
            </a:r>
            <a:r>
              <a:rPr sz="1800" b="1">
                <a:solidFill>
                  <a:srgbClr val="262626"/>
                </a:solidFill>
                <a:latin typeface="Times New Roman"/>
              </a:rPr>
              <a:t>LM Studio</a:t>
            </a:r>
            <a:r>
              <a:rPr sz="1800" b="0">
                <a:solidFill>
                  <a:srgbClr val="262626"/>
                </a:solidFill>
                <a:latin typeface="Times New Roman"/>
              </a:rPr>
              <a:t> ofrece una interfaz gráfica equivalente, útil para el alumnado que prefiere no usar la terminal, y </a:t>
            </a:r>
            <a:r>
              <a:rPr sz="1800" b="1">
                <a:solidFill>
                  <a:srgbClr val="262626"/>
                </a:solidFill>
                <a:latin typeface="Times New Roman"/>
              </a:rPr>
              <a:t>llama.cpp</a:t>
            </a:r>
            <a:r>
              <a:rPr sz="1800" b="0">
                <a:solidFill>
                  <a:srgbClr val="262626"/>
                </a:solidFill>
                <a:latin typeface="Times New Roman"/>
              </a:rPr>
              <a:t> es el motor de bajo nivel que hace posible ejecutar estos modelos de forma eficiente solo con CPU; tanto Ollama como LM Studio lo usan por debajo.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5. Preparar un dataset propio con tus apuntes</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327023"/>
          </a:xfrm>
          <a:prstGeom prst="rect">
            <a:avLst/>
          </a:prstGeom>
          <a:noFill/>
        </p:spPr>
        <p:txBody>
          <a:bodyPr wrap="square">
            <a:spAutoFit/>
          </a:bodyPr>
          <a:lstStyle/>
          <a:p>
            <a:pPr algn="l">
              <a:spcAft>
                <a:spcPts val="800"/>
              </a:spcAft>
            </a:pPr>
            <a:r>
              <a:rPr sz="1800" b="0">
                <a:solidFill>
                  <a:srgbClr val="262626"/>
                </a:solidFill>
                <a:latin typeface="Times New Roman"/>
              </a:rPr>
              <a:t>Ajustar un modelo no exige un dataset enorme: entre 500 y 1 000 ejemplos bien construidos bastan para adaptar el estilo y el formato de las respuestas. La forma más práctica de generarlo a partir de material docente ya existente es transformar cada apunte en pares de </a:t>
            </a:r>
            <a:r>
              <a:rPr sz="1800" b="1">
                <a:solidFill>
                  <a:srgbClr val="262626"/>
                </a:solidFill>
                <a:latin typeface="Times New Roman"/>
              </a:rPr>
              <a:t>instrucción y respuesta</a:t>
            </a:r>
            <a:r>
              <a:rPr sz="1800" b="0">
                <a:solidFill>
                  <a:srgbClr val="262626"/>
                </a:solidFill>
                <a:latin typeface="Times New Roman"/>
              </a:rPr>
              <a:t> guardados en formato JSON Lines (</a:t>
            </a:r>
            <a:r>
              <a:rPr sz="1800" b="0">
                <a:solidFill>
                  <a:srgbClr val="262626"/>
                </a:solidFill>
                <a:latin typeface="Consolas"/>
              </a:rPr>
              <a:t>.jsonl</a:t>
            </a:r>
            <a:r>
              <a:rPr sz="1800" b="0">
                <a:solidFill>
                  <a:srgbClr val="262626"/>
                </a:solidFill>
                <a:latin typeface="Times New Roman"/>
              </a:rPr>
              <a:t>), por ejemplo: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5. Preparar un dataset propio con tus apuntes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033271"/>
            <a:ext cx="11368735" cy="521970"/>
          </a:xfrm>
          <a:prstGeom prst="roundRect">
            <a:avLst>
              <a:gd name="adj" fmla="val 4000"/>
            </a:avLst>
          </a:prstGeom>
          <a:solidFill>
            <a:srgbClr val="F2F2F2"/>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91440" bIns="91440"/>
          <a:lstStyle/>
          <a:p>
            <a:pPr algn="l"/>
            <a:r>
              <a:rPr sz="1300">
                <a:solidFill>
                  <a:srgbClr val="1F1F1F"/>
                </a:solidFill>
                <a:latin typeface="Consolas"/>
              </a:rPr>
              <a:t>{"instruction": "Explica qué hace el comando ollama pull", "output": "Descarga los pesos de un modelo publicado en la biblioteca de Ollama..."}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5. Preparar un dataset propio con tus apuntes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327023"/>
          </a:xfrm>
          <a:prstGeom prst="rect">
            <a:avLst/>
          </a:prstGeom>
          <a:noFill/>
        </p:spPr>
        <p:txBody>
          <a:bodyPr wrap="square">
            <a:spAutoFit/>
          </a:bodyPr>
          <a:lstStyle/>
          <a:p>
            <a:pPr algn="l">
              <a:spcAft>
                <a:spcPts val="800"/>
              </a:spcAft>
            </a:pPr>
            <a:r>
              <a:rPr sz="1800" b="0">
                <a:solidFill>
                  <a:srgbClr val="262626"/>
                </a:solidFill>
                <a:latin typeface="Times New Roman"/>
              </a:rPr>
              <a:t>Un script sencillo en Python puede recorrer los apuntes en Markdown ya publicados en el sitio MkDocs del centro y proponer automáticamente preguntas y respuestas candidatas, que después el alumnado revisa y corrige a mano: la calidad de cada ejemplo importa mucho más que la cantidad total.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6. Ajustar el modelo con LoRA y QLoRA</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2252853"/>
          </a:xfrm>
          <a:prstGeom prst="rect">
            <a:avLst/>
          </a:prstGeom>
          <a:noFill/>
        </p:spPr>
        <p:txBody>
          <a:bodyPr wrap="square">
            <a:spAutoFit/>
          </a:bodyPr>
          <a:lstStyle/>
          <a:p>
            <a:pPr algn="l">
              <a:spcAft>
                <a:spcPts val="800"/>
              </a:spcAft>
            </a:pPr>
            <a:r>
              <a:rPr sz="1800" b="1">
                <a:solidFill>
                  <a:srgbClr val="262626"/>
                </a:solidFill>
                <a:latin typeface="Times New Roman"/>
              </a:rPr>
              <a:t>LoRA</a:t>
            </a:r>
            <a:r>
              <a:rPr sz="1800" b="0">
                <a:solidFill>
                  <a:srgbClr val="262626"/>
                </a:solidFill>
                <a:latin typeface="Times New Roman"/>
              </a:rPr>
              <a:t> (*Low-Rank Adaptation*) no reentrena todos los parámetros del modelo, sino que añade una pequeña capa de ajuste ("adaptador") y entrena solo esa parte, reduciendo drásticamente la memoria necesaria. </a:t>
            </a:r>
            <a:r>
              <a:rPr sz="1800" b="1">
                <a:solidFill>
                  <a:srgbClr val="262626"/>
                </a:solidFill>
                <a:latin typeface="Times New Roman"/>
              </a:rPr>
              <a:t>QLoRA</a:t>
            </a:r>
            <a:r>
              <a:rPr sz="1800" b="0">
                <a:solidFill>
                  <a:srgbClr val="262626"/>
                </a:solidFill>
                <a:latin typeface="Times New Roman"/>
              </a:rPr>
              <a:t> combina LoRA con un modelo base ya cuantizado en 4 bits, lo que permite ajustar modelos de 7-8 mil millones de parámetros incluso en una GPU de consumo con 8-12 GB de VRAM. Herramientas como </a:t>
            </a:r>
            <a:r>
              <a:rPr sz="1800" b="1">
                <a:solidFill>
                  <a:srgbClr val="262626"/>
                </a:solidFill>
                <a:latin typeface="Times New Roman"/>
              </a:rPr>
              <a:t>Unsloth</a:t>
            </a:r>
            <a:r>
              <a:rPr sz="1800" b="0">
                <a:solidFill>
                  <a:srgbClr val="262626"/>
                </a:solidFill>
                <a:latin typeface="Times New Roman"/>
              </a:rPr>
              <a:t> (la opción más rápida y sencilla para empezar), </a:t>
            </a:r>
            <a:r>
              <a:rPr sz="1800" b="1">
                <a:solidFill>
                  <a:srgbClr val="262626"/>
                </a:solidFill>
                <a:latin typeface="Times New Roman"/>
              </a:rPr>
              <a:t>PEFT</a:t>
            </a:r>
            <a:r>
              <a:rPr sz="1800" b="0">
                <a:solidFill>
                  <a:srgbClr val="262626"/>
                </a:solidFill>
                <a:latin typeface="Times New Roman"/>
              </a:rPr>
              <a:t> de Hugging Face y </a:t>
            </a:r>
            <a:r>
              <a:rPr sz="1800" b="1">
                <a:solidFill>
                  <a:srgbClr val="262626"/>
                </a:solidFill>
                <a:latin typeface="Times New Roman"/>
              </a:rPr>
              <a:t>TRL</a:t>
            </a:r>
            <a:r>
              <a:rPr sz="1800" b="0">
                <a:solidFill>
                  <a:srgbClr val="262626"/>
                </a:solidFill>
                <a:latin typeface="Times New Roman"/>
              </a:rPr>
              <a:t> son el conjunto habitual para lanzar este proceso con pocas líneas de código, tanto en un portátil con GPU como en un cuaderno gratuito de Google Colab.</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7. Caso práctico: del apunte al modelo ajustado en el aula</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6252804" cy="1327023"/>
          </a:xfrm>
          <a:prstGeom prst="rect">
            <a:avLst/>
          </a:prstGeom>
          <a:noFill/>
        </p:spPr>
        <p:txBody>
          <a:bodyPr wrap="square">
            <a:spAutoFit/>
          </a:bodyPr>
          <a:lstStyle/>
          <a:p>
            <a:pPr algn="l">
              <a:spcAft>
                <a:spcPts val="800"/>
              </a:spcAft>
            </a:pPr>
            <a:r>
              <a:rPr sz="1800" b="0">
                <a:solidFill>
                  <a:srgbClr val="262626"/>
                </a:solidFill>
                <a:latin typeface="Times New Roman"/>
              </a:rPr>
              <a:t>1. </a:t>
            </a:r>
            <a:r>
              <a:rPr sz="1800" b="1">
                <a:solidFill>
                  <a:srgbClr val="262626"/>
                </a:solidFill>
                <a:latin typeface="Times New Roman"/>
              </a:rPr>
              <a:t>Elegir y probar el modelo base</a:t>
            </a:r>
            <a:r>
              <a:rPr sz="1800" b="0">
                <a:solidFill>
                  <a:srgbClr val="262626"/>
                </a:solidFill>
                <a:latin typeface="Times New Roman"/>
              </a:rPr>
              <a:t>: instalar Ollama y ejecutar en local un modelo de 1-3B para comprobar que responde con la calidad esperada antes de invertir tiempo en ajustarlo.</a:t>
            </a:r>
          </a:p>
        </p:txBody>
      </p:sp>
      <p:pic>
        <p:nvPicPr>
          <p:cNvPr id="7" name="Picture 6" descr="arquitectura-llm-aula.png"/>
          <p:cNvPicPr>
            <a:picLocks noChangeAspect="1"/>
          </p:cNvPicPr>
          <p:nvPr/>
        </p:nvPicPr>
        <p:blipFill>
          <a:blip r:embed="rId2"/>
          <a:stretch>
            <a:fillRect/>
          </a:stretch>
        </p:blipFill>
        <p:spPr>
          <a:xfrm>
            <a:off x="7005346" y="2823012"/>
            <a:ext cx="4774868" cy="1623455"/>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7. Caso práctico: del apunte al modelo ajustado en el aula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709803"/>
          </a:xfrm>
          <a:prstGeom prst="rect">
            <a:avLst/>
          </a:prstGeom>
          <a:noFill/>
        </p:spPr>
        <p:txBody>
          <a:bodyPr wrap="square">
            <a:spAutoFit/>
          </a:bodyPr>
          <a:lstStyle/>
          <a:p>
            <a:pPr algn="l">
              <a:spcAft>
                <a:spcPts val="800"/>
              </a:spcAft>
            </a:pPr>
            <a:r>
              <a:rPr sz="1800" b="0">
                <a:solidFill>
                  <a:srgbClr val="262626"/>
                </a:solidFill>
                <a:latin typeface="Times New Roman"/>
              </a:rPr>
              <a:t>2. </a:t>
            </a:r>
            <a:r>
              <a:rPr sz="1800" b="1">
                <a:solidFill>
                  <a:srgbClr val="262626"/>
                </a:solidFill>
                <a:latin typeface="Times New Roman"/>
              </a:rPr>
              <a:t>Construir el dataset</a:t>
            </a:r>
            <a:r>
              <a:rPr sz="1800" b="0">
                <a:solidFill>
                  <a:srgbClr val="262626"/>
                </a:solidFill>
                <a:latin typeface="Times New Roman"/>
              </a:rPr>
              <a:t>: convertir 20-30 apuntes del temario en 500-1 000 pares de instrucción-respuesta en </a:t>
            </a:r>
            <a:r>
              <a:rPr sz="1800" b="0">
                <a:solidFill>
                  <a:srgbClr val="262626"/>
                </a:solidFill>
                <a:latin typeface="Consolas"/>
              </a:rPr>
              <a:t>.jsonl</a:t>
            </a:r>
            <a:r>
              <a:rPr sz="1800" b="0">
                <a:solidFill>
                  <a:srgbClr val="262626"/>
                </a:solidFill>
                <a:latin typeface="Times New Roman"/>
              </a:rPr>
              <a:t>, revisados por el alumnado.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7. Caso práctico: del apunte al modelo ajustado en el aula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709803"/>
          </a:xfrm>
          <a:prstGeom prst="rect">
            <a:avLst/>
          </a:prstGeom>
          <a:noFill/>
        </p:spPr>
        <p:txBody>
          <a:bodyPr wrap="square">
            <a:spAutoFit/>
          </a:bodyPr>
          <a:lstStyle/>
          <a:p>
            <a:pPr algn="l">
              <a:spcAft>
                <a:spcPts val="800"/>
              </a:spcAft>
            </a:pPr>
            <a:r>
              <a:rPr sz="1800" b="0">
                <a:solidFill>
                  <a:srgbClr val="262626"/>
                </a:solidFill>
                <a:latin typeface="Times New Roman"/>
              </a:rPr>
              <a:t>3. </a:t>
            </a:r>
            <a:r>
              <a:rPr sz="1800" b="1">
                <a:solidFill>
                  <a:srgbClr val="262626"/>
                </a:solidFill>
                <a:latin typeface="Times New Roman"/>
              </a:rPr>
              <a:t>Lanzar el ajuste con QLoRA</a:t>
            </a:r>
            <a:r>
              <a:rPr sz="1800" b="0">
                <a:solidFill>
                  <a:srgbClr val="262626"/>
                </a:solidFill>
                <a:latin typeface="Times New Roman"/>
              </a:rPr>
              <a:t>: si el aula no tiene GPU, subir el dataset y el script de Unsloth a un cuaderno de Google Colab gratuito y lanzar el entrenamiento allí.</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7. Caso práctico: del apunte al modelo ajustado en el aula (cont. 4)</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728216"/>
          </a:xfrm>
          <a:prstGeom prst="rect">
            <a:avLst/>
          </a:prstGeom>
          <a:noFill/>
        </p:spPr>
        <p:txBody>
          <a:bodyPr wrap="square">
            <a:spAutoFit/>
          </a:bodyPr>
          <a:lstStyle/>
          <a:p>
            <a:pPr algn="l">
              <a:spcAft>
                <a:spcPts val="800"/>
              </a:spcAft>
            </a:pPr>
            <a:r>
              <a:rPr sz="1800" b="0">
                <a:solidFill>
                  <a:srgbClr val="262626"/>
                </a:solidFill>
                <a:latin typeface="Times New Roman"/>
              </a:rPr>
              <a:t>4. </a:t>
            </a:r>
            <a:r>
              <a:rPr sz="1800" b="1">
                <a:solidFill>
                  <a:srgbClr val="262626"/>
                </a:solidFill>
                <a:latin typeface="Times New Roman"/>
              </a:rPr>
              <a:t>Descargar y fusionar el adaptador</a:t>
            </a:r>
            <a:r>
              <a:rPr sz="1800" b="0">
                <a:solidFill>
                  <a:srgbClr val="262626"/>
                </a:solidFill>
                <a:latin typeface="Times New Roman"/>
              </a:rPr>
              <a:t>: el resultado es un archivo de pocos megabytes que se fusiona con el modelo base y se convierte de nuevo a formato GGUF para poder servirlo con Ollama.</a:t>
            </a:r>
          </a:p>
          <a:p>
            <a:pPr algn="l">
              <a:spcAft>
                <a:spcPts val="800"/>
              </a:spcAft>
            </a:pPr>
            <a:r>
              <a:rPr sz="1800" b="0">
                <a:solidFill>
                  <a:srgbClr val="262626"/>
                </a:solidFill>
                <a:latin typeface="Times New Roman"/>
              </a:rPr>
              <a:t>5. </a:t>
            </a:r>
            <a:r>
              <a:rPr sz="1800" b="1">
                <a:solidFill>
                  <a:srgbClr val="262626"/>
                </a:solidFill>
                <a:latin typeface="Times New Roman"/>
              </a:rPr>
              <a:t>Evaluar y comparar</a:t>
            </a:r>
            <a:r>
              <a:rPr sz="1800" b="0">
                <a:solidFill>
                  <a:srgbClr val="262626"/>
                </a:solidFill>
                <a:latin typeface="Times New Roman"/>
              </a:rPr>
              <a:t>: probar el modelo ajustado frente al modelo original con las mismas preguntas del temario, y comprobar si responde con el estilo y el nivel de detalle esperados.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8. Buenas prácticas y límites que conviene conocer</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944243"/>
          </a:xfrm>
          <a:prstGeom prst="rect">
            <a:avLst/>
          </a:prstGeom>
          <a:noFill/>
        </p:spPr>
        <p:txBody>
          <a:bodyPr wrap="square">
            <a:spAutoFit/>
          </a:bodyPr>
          <a:lstStyle/>
          <a:p>
            <a:pPr algn="l">
              <a:spcAft>
                <a:spcPts val="800"/>
              </a:spcAft>
            </a:pPr>
            <a:r>
              <a:rPr sz="1800" b="0">
                <a:solidFill>
                  <a:srgbClr val="262626"/>
                </a:solidFill>
                <a:latin typeface="Times New Roman"/>
              </a:rPr>
              <a:t>Un modelo de 1-3B ajustado en el aula no va a igualar a un asistente comercial de gran tamaño: su punto fuerte es responder bien dentro de un dominio acotado (el temario propio), no la cultura general. Conviene además no subir nunca datos personales del alumnado a un cuaderno de Colab, revisar siempre el dataset generado automáticamente antes de usarlo para entrenar, y guardar el adaptador LoRA (no solo el modelo fusionado) para poder repetir o mejorar el ajuste más adelante sin partir de cero.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9. Glosario rápido</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327023"/>
          </a:xfrm>
          <a:prstGeom prst="rect">
            <a:avLst/>
          </a:prstGeom>
          <a:noFill/>
        </p:spPr>
        <p:txBody>
          <a:bodyPr wrap="square">
            <a:spAutoFit/>
          </a:bodyPr>
          <a:lstStyle/>
          <a:p>
            <a:pPr algn="l" marL="45720">
              <a:spcAft>
                <a:spcPts val="600"/>
              </a:spcAft>
            </a:pPr>
            <a:r>
              <a:rPr sz="1800" b="1">
                <a:solidFill>
                  <a:srgbClr val="666666"/>
                </a:solidFill>
                <a:latin typeface="Times New Roman"/>
              </a:rPr>
              <a:t>■  </a:t>
            </a:r>
            <a:r>
              <a:rPr sz="1800" b="1">
                <a:solidFill>
                  <a:srgbClr val="262626"/>
                </a:solidFill>
                <a:latin typeface="Times New Roman"/>
              </a:rPr>
              <a:t>Cuantización</a:t>
            </a:r>
            <a:r>
              <a:rPr sz="1800" b="0">
                <a:solidFill>
                  <a:srgbClr val="262626"/>
                </a:solidFill>
                <a:latin typeface="Times New Roman"/>
              </a:rPr>
              <a:t>: reducir la precisión numérica de los pesos de un modelo para que ocupe menos memoria y sea más rápido, con una pérdida de calidad pequeña.</a:t>
            </a:r>
          </a:p>
          <a:p>
            <a:pPr algn="l" marL="45720">
              <a:spcAft>
                <a:spcPts val="600"/>
              </a:spcAft>
            </a:pPr>
            <a:r>
              <a:rPr sz="1800" b="1">
                <a:solidFill>
                  <a:srgbClr val="666666"/>
                </a:solidFill>
                <a:latin typeface="Times New Roman"/>
              </a:rPr>
              <a:t>■  </a:t>
            </a:r>
            <a:r>
              <a:rPr sz="1800" b="1">
                <a:solidFill>
                  <a:srgbClr val="262626"/>
                </a:solidFill>
                <a:latin typeface="Times New Roman"/>
              </a:rPr>
              <a:t>Fine-tuning (ajuste fino)</a:t>
            </a:r>
            <a:r>
              <a:rPr sz="1800" b="0">
                <a:solidFill>
                  <a:srgbClr val="262626"/>
                </a:solidFill>
                <a:latin typeface="Times New Roman"/>
              </a:rPr>
              <a:t>: adaptar un modelo ya entrenado a un dominio o estilo concreto, sin entrenarlo desde cero.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9. Glosario rápido (cont. 2)</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663511"/>
          </a:xfrm>
          <a:prstGeom prst="rect">
            <a:avLst/>
          </a:prstGeom>
          <a:noFill/>
        </p:spPr>
        <p:txBody>
          <a:bodyPr wrap="square">
            <a:spAutoFit/>
          </a:bodyPr>
          <a:lstStyle/>
          <a:p>
            <a:pPr algn="l" marL="45720">
              <a:spcAft>
                <a:spcPts val="600"/>
              </a:spcAft>
            </a:pPr>
            <a:r>
              <a:rPr sz="1800" b="1">
                <a:solidFill>
                  <a:srgbClr val="666666"/>
                </a:solidFill>
                <a:latin typeface="Times New Roman"/>
              </a:rPr>
              <a:t>■  </a:t>
            </a:r>
            <a:r>
              <a:rPr sz="1800" b="1">
                <a:solidFill>
                  <a:srgbClr val="262626"/>
                </a:solidFill>
                <a:latin typeface="Times New Roman"/>
              </a:rPr>
              <a:t>GGUF</a:t>
            </a:r>
            <a:r>
              <a:rPr sz="1800" b="0">
                <a:solidFill>
                  <a:srgbClr val="262626"/>
                </a:solidFill>
                <a:latin typeface="Times New Roman"/>
              </a:rPr>
              <a:t>: formato de archivo optimizado para ejecutar modelos cuantizados en CPU con herramientas como llama.cpp u Ollama.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9. Glosario rápido (cont. 3)</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327023"/>
          </a:xfrm>
          <a:prstGeom prst="rect">
            <a:avLst/>
          </a:prstGeom>
          <a:noFill/>
        </p:spPr>
        <p:txBody>
          <a:bodyPr wrap="square">
            <a:spAutoFit/>
          </a:bodyPr>
          <a:lstStyle/>
          <a:p>
            <a:pPr algn="l" marL="45720">
              <a:spcAft>
                <a:spcPts val="600"/>
              </a:spcAft>
            </a:pPr>
            <a:r>
              <a:rPr sz="1800" b="1">
                <a:solidFill>
                  <a:srgbClr val="666666"/>
                </a:solidFill>
                <a:latin typeface="Times New Roman"/>
              </a:rPr>
              <a:t>■  </a:t>
            </a:r>
            <a:r>
              <a:rPr sz="1800" b="1">
                <a:solidFill>
                  <a:srgbClr val="262626"/>
                </a:solidFill>
                <a:latin typeface="Times New Roman"/>
              </a:rPr>
              <a:t>LoRA / QLoRA</a:t>
            </a:r>
            <a:r>
              <a:rPr sz="1800" b="0">
                <a:solidFill>
                  <a:srgbClr val="262626"/>
                </a:solidFill>
                <a:latin typeface="Times New Roman"/>
              </a:rPr>
              <a:t>: técnicas que ajustan un modelo entrenando solo un pequeño adaptador adicional, en lugar de todos sus parámetros.</a:t>
            </a:r>
          </a:p>
          <a:p>
            <a:pPr algn="l" marL="45720">
              <a:spcAft>
                <a:spcPts val="600"/>
              </a:spcAft>
            </a:pPr>
            <a:r>
              <a:rPr sz="1800" b="1">
                <a:solidFill>
                  <a:srgbClr val="666666"/>
                </a:solidFill>
                <a:latin typeface="Times New Roman"/>
              </a:rPr>
              <a:t>■  </a:t>
            </a:r>
            <a:r>
              <a:rPr sz="1800" b="1">
                <a:solidFill>
                  <a:srgbClr val="262626"/>
                </a:solidFill>
                <a:latin typeface="Times New Roman"/>
              </a:rPr>
              <a:t>VRAM</a:t>
            </a:r>
            <a:r>
              <a:rPr sz="1800" b="0">
                <a:solidFill>
                  <a:srgbClr val="262626"/>
                </a:solidFill>
                <a:latin typeface="Times New Roman"/>
              </a:rPr>
              <a:t>: memoria de la tarjeta gráfica; el factor que más limita el tamaño de modelo que se puede ajustar localmente.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11368735" cy="685800"/>
          </a:xfrm>
          <a:prstGeom prst="rect">
            <a:avLst/>
          </a:prstGeom>
          <a:noFill/>
        </p:spPr>
        <p:txBody>
          <a:bodyPr wrap="square" anchor="ctr">
            <a:spAutoFit/>
          </a:bodyPr>
          <a:lstStyle/>
          <a:p>
            <a:pPr algn="ctr"/>
            <a:r>
              <a:rPr sz="3000" b="1" cap="all">
                <a:solidFill>
                  <a:srgbClr val="262626"/>
                </a:solidFill>
                <a:latin typeface="Arial"/>
              </a:rPr>
              <a:t>9. Glosario rápido (cont. 4)</a:t>
            </a:r>
          </a:p>
        </p:txBody>
      </p:sp>
      <p:cxnSp>
        <p:nvCxnSpPr>
          <p:cNvPr id="3" name="Connector 2"/>
          <p:cNvCxnSpPr/>
          <p:nvPr/>
        </p:nvCxnSpPr>
        <p:spPr>
          <a:xfrm>
            <a:off x="411480" y="850392"/>
            <a:ext cx="11368735"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0" y="6345936"/>
            <a:ext cx="12191695" cy="54864"/>
          </a:xfrm>
          <a:prstGeom prst="rect">
            <a:avLst/>
          </a:prstGeom>
          <a:solidFill>
            <a:srgbClr val="D981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91695" cy="457200"/>
          </a:xfrm>
          <a:prstGeom prst="rect">
            <a:avLst/>
          </a:prstGeom>
          <a:solidFill>
            <a:srgbClr val="B85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033271"/>
            <a:ext cx="11368735" cy="1327023"/>
          </a:xfrm>
          <a:prstGeom prst="rect">
            <a:avLst/>
          </a:prstGeom>
          <a:noFill/>
        </p:spPr>
        <p:txBody>
          <a:bodyPr wrap="square">
            <a:spAutoFit/>
          </a:bodyPr>
          <a:lstStyle/>
          <a:p>
            <a:pPr algn="l">
              <a:spcAft>
                <a:spcPts val="800"/>
              </a:spcAft>
            </a:pPr>
            <a:r>
              <a:rPr sz="1800" b="0">
                <a:solidFill>
                  <a:srgbClr val="262626"/>
                </a:solidFill>
                <a:latin typeface="Times New Roman"/>
              </a:rPr>
              <a:t>Con esto queda cerrado el recorrido completo: elegir un modelo abierto, ejecutarlo en local con el equipo del aula, construir un dataset propio a partir del temario y ajustarlo con LoRA o QLoRA, apoyándose en una GPU gratuita en la nube solo cuando el hardware del centro se queda corto.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